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9"/>
    <p:restoredTop sz="94658"/>
  </p:normalViewPr>
  <p:slideViewPr>
    <p:cSldViewPr snapToGrid="0">
      <p:cViewPr varScale="1">
        <p:scale>
          <a:sx n="78" d="100"/>
          <a:sy n="78" d="100"/>
        </p:scale>
        <p:origin x="200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开场介绍《职业院校智能制造课程建设》，说明汇报主题、适用专业和本次交流目标。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概览本次汇报结构：一、课程建设目标、二、课程内容与实训环境、三、教学实施与质量评价。说明各章节之间的逻辑关系。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本章内容概括：围绕“一、课程建设目标”，依次介绍面向岗位能力重构课程目标、课程体系由岗位任务向学习项目转换。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本页是后续分页候选页。讲解时先说明岗位变化，再用学生作品证据说明课程目标为何必须从“会操作”升级为“能诊断、能协作、能改进”。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本页是后续分页候选页。讲解时先说明岗位变化，再用学生作品证据说明课程目标为何必须从“会操作”升级为“能诊断、能协作、能改进”。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本页是后续分页候选页。讲解时先说明岗位变化，再用学生作品证据说明课程目标为何必须从“会操作”升级为“能诊断、能协作、能改进”。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本页围绕“课程体系由岗位任务向学习项目转换”展开。对照左右两栏说明对应关系、差异和共同目标。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本页围绕“课程体系由岗位任务向学习项目转换”展开。对照左右两栏说明对应关系、差异和共同目标。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本页围绕“课程体系由岗位任务向学习项目转换”展开。对照左右两栏说明对应关系、差异和共同目标。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本章内容概括：围绕“二、课程内容与实训环境”，依次介绍真实设备支撑从单机到产线的能力进阶、项目化课程模块与学习成果、课程建设分阶段实施、实训资源共同构成学习证据链。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多张主图共享本页稳定正文和备注，后续每张图形成连续物理页时不改变课程叙事。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多张主图共享本页稳定正文和备注，后续每张图形成连续物理页时不改变课程叙事。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多张主图共享本页稳定正文和备注，后续每张图形成连续物理页时不改变课程叙事。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本页围绕“项目化课程模块与学习成果”展开。按表头和关键行说明数据关系、验收标准和结论。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本页围绕“项目化课程模块与学习成果”展开。按表头和关键行说明数据关系、验收标准和结论。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本页围绕“课程建设分阶段实施”展开。按时间顺序说明各阶段任务、衔接关系和阶段成果。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本页围绕“课程建设分阶段实施”展开。按时间顺序说明各阶段任务、衔接关系和阶段成果。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本页围绕“实训资源共同构成学习证据链”展开。结合各图片说明资源用途、观察重点和证据价值。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本页围绕“实训资源共同构成学习证据链”展开。结合各图片说明资源用途、观察重点和证据价值。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本章内容概括：围绕“三、教学实施与质量评价”，依次介绍产线联调记录采用可审阅的结构化文本、多元评价推动教学持续改进。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本页围绕“产线联调记录采用可审阅的结构化文本”展开。说明结构化记录的字段、使用场景和审阅要求。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本页围绕“产线联调记录采用可审阅的结构化文本”展开。说明结构化记录的字段、使用场景和审阅要求。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本页围绕“多元评价推动教学持续改进”展开。概括页面核心观点，并结合正文说明实施要求和预期成果。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本页围绕“多元评价推动教学持续改进”展开。概括页面核心观点，并结合正文说明实施要求和预期成果。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本页围绕“多元评价推动教学持续改进”展开。概括页面核心观点，并结合正文说明实施要求和预期成果。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总结本次汇报的核心内容，邀请听众提问并进入交流答疑。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9.png"/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9.png"/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9.png"/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9.png"/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image" Target="../media/image6.jpeg"/><Relationship Id="rId4" Type="http://schemas.openxmlformats.org/officeDocument/2006/relationships/image" Target="../media/image3.png"/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封面背景" descr="常用标识及文件7755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8255" y="0"/>
            <a:ext cx="12187555" cy="6858000"/>
          </a:xfrm>
          <a:prstGeom prst="rect">
            <a:avLst/>
          </a:prstGeom>
        </p:spPr>
      </p:pic>
      <p:pic>
        <p:nvPicPr>
          <p:cNvPr id="9" name="衬饰" descr="常用标识及文件5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0160" y="5874385"/>
            <a:ext cx="12202160" cy="708025"/>
          </a:xfrm>
          <a:prstGeom prst="rect">
            <a:avLst/>
          </a:prstGeom>
        </p:spPr>
      </p:pic>
      <p:pic>
        <p:nvPicPr>
          <p:cNvPr id="10" name="中文Slogan" descr="常用标识及文件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280" y="5059680"/>
            <a:ext cx="1975485" cy="732790"/>
          </a:xfrm>
          <a:prstGeom prst="rect">
            <a:avLst/>
          </a:prstGeom>
        </p:spPr>
      </p:pic>
      <p:pic>
        <p:nvPicPr>
          <p:cNvPr id="11" name="英文Slogan" descr="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915525" y="397510"/>
            <a:ext cx="1882140" cy="278765"/>
          </a:xfrm>
          <a:prstGeom prst="rect">
            <a:avLst/>
          </a:prstGeom>
        </p:spPr>
      </p:pic>
      <p:pic>
        <p:nvPicPr>
          <p:cNvPr id="13" name="Logo" descr="西安技师学院西电机电学院简称LOGO1"/>
          <p:cNvPicPr>
            <a:picLocks noChangeAspect="1"/>
          </p:cNvPicPr>
          <p:nvPr userDrawn="1"/>
        </p:nvPicPr>
        <p:blipFill>
          <a:blip r:embed="rId6">
            <a:biLevel thresh="25000"/>
          </a:blip>
          <a:stretch>
            <a:fillRect/>
          </a:stretch>
        </p:blipFill>
        <p:spPr>
          <a:xfrm>
            <a:off x="421005" y="266700"/>
            <a:ext cx="2942590" cy="898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"/>
          <p:cNvSpPr/>
          <p:nvPr userDrawn="1"/>
        </p:nvSpPr>
        <p:spPr>
          <a:xfrm>
            <a:off x="571500" y="1054100"/>
            <a:ext cx="2298700" cy="1320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dist">
              <a:lnSpc>
                <a:spcPct val="100000"/>
              </a:lnSpc>
              <a:defRPr/>
            </a:pPr>
            <a:r>
              <a:rPr lang="en-US" sz="8000" b="1" i="0" u="none" strike="noStrike">
                <a:solidFill>
                  <a:srgbClr val="595959"/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rPr>
              <a:t>目录</a:t>
            </a:r>
            <a:endParaRPr lang="en-US" sz="1100"/>
          </a:p>
        </p:txBody>
      </p:sp>
      <p:sp>
        <p:nvSpPr>
          <p:cNvPr id="7" name="AutoShape 5"/>
          <p:cNvSpPr/>
          <p:nvPr userDrawn="1"/>
        </p:nvSpPr>
        <p:spPr>
          <a:xfrm>
            <a:off x="571500" y="2209800"/>
            <a:ext cx="22987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dist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CONTENTS</a:t>
            </a:r>
            <a:endParaRPr lang="en-US" sz="1100"/>
          </a:p>
        </p:txBody>
      </p:sp>
      <p:sp>
        <p:nvSpPr>
          <p:cNvPr id="8" name="AutoShape 6"/>
          <p:cNvSpPr/>
          <p:nvPr userDrawn="1"/>
        </p:nvSpPr>
        <p:spPr>
          <a:xfrm rot="5400000">
            <a:off x="1498600" y="1003300"/>
            <a:ext cx="406400" cy="341630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6"/>
              </a:gs>
            </a:gsLst>
            <a:lin ang="16200000" scaled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school-pptx:contents-anchor"/>
          <p:cNvSpPr/>
          <p:nvPr userDrawn="1"/>
        </p:nvSpPr>
        <p:spPr>
          <a:xfrm>
            <a:off x="4181475" y="1573530"/>
            <a:ext cx="7466330" cy="387477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pic>
        <p:nvPicPr>
          <p:cNvPr id="11" name="封面背景" descr="常用标识及文件7755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8255" y="4064635"/>
            <a:ext cx="12187555" cy="1877695"/>
          </a:xfrm>
          <a:prstGeom prst="rect">
            <a:avLst/>
          </a:prstGeom>
        </p:spPr>
      </p:pic>
      <p:pic>
        <p:nvPicPr>
          <p:cNvPr id="2" name="图片 1" descr="西安技师学院西电机电学院简称LOGO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98560" y="579120"/>
            <a:ext cx="2793365" cy="852805"/>
          </a:xfrm>
          <a:prstGeom prst="rect">
            <a:avLst/>
          </a:prstGeom>
        </p:spPr>
      </p:pic>
      <p:pic>
        <p:nvPicPr>
          <p:cNvPr id="10" name="图片 9" descr="图片1-图片2填充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350" y="5870575"/>
            <a:ext cx="12186285" cy="708025"/>
          </a:xfrm>
          <a:prstGeom prst="rect">
            <a:avLst/>
          </a:prstGeom>
          <a:noFill/>
        </p:spPr>
      </p:pic>
      <p:pic>
        <p:nvPicPr>
          <p:cNvPr id="14" name="封面背景" descr="常用标识及文件77555"/>
          <p:cNvPicPr>
            <a:picLocks noChangeAspect="1"/>
          </p:cNvPicPr>
          <p:nvPr userDrawn="1"/>
        </p:nvPicPr>
        <p:blipFill>
          <a:blip r:embed="rId2"/>
          <a:srcRect r="78753"/>
          <a:stretch>
            <a:fillRect/>
          </a:stretch>
        </p:blipFill>
        <p:spPr>
          <a:xfrm>
            <a:off x="-8255" y="4986020"/>
            <a:ext cx="2589530" cy="1002030"/>
          </a:xfrm>
          <a:prstGeom prst="rect">
            <a:avLst/>
          </a:prstGeom>
        </p:spPr>
      </p:pic>
      <p:pic>
        <p:nvPicPr>
          <p:cNvPr id="15" name="封面背景" descr="常用标识及文件77555"/>
          <p:cNvPicPr>
            <a:picLocks noChangeAspect="1"/>
          </p:cNvPicPr>
          <p:nvPr userDrawn="1"/>
        </p:nvPicPr>
        <p:blipFill>
          <a:blip r:embed="rId2"/>
          <a:srcRect r="79816"/>
          <a:stretch>
            <a:fillRect/>
          </a:stretch>
        </p:blipFill>
        <p:spPr>
          <a:xfrm>
            <a:off x="0" y="5074920"/>
            <a:ext cx="2459990" cy="1002030"/>
          </a:xfrm>
          <a:prstGeom prst="rect">
            <a:avLst/>
          </a:prstGeom>
        </p:spPr>
      </p:pic>
      <p:pic>
        <p:nvPicPr>
          <p:cNvPr id="16" name="封面背景" descr="常用标识及文件77555"/>
          <p:cNvPicPr>
            <a:picLocks noChangeAspect="1"/>
          </p:cNvPicPr>
          <p:nvPr userDrawn="1"/>
        </p:nvPicPr>
        <p:blipFill>
          <a:blip r:embed="rId2"/>
          <a:srcRect r="80394"/>
          <a:stretch>
            <a:fillRect/>
          </a:stretch>
        </p:blipFill>
        <p:spPr>
          <a:xfrm>
            <a:off x="0" y="5121910"/>
            <a:ext cx="2389505" cy="1002030"/>
          </a:xfrm>
          <a:prstGeom prst="rect">
            <a:avLst/>
          </a:prstGeom>
        </p:spPr>
      </p:pic>
      <p:sp>
        <p:nvSpPr>
          <p:cNvPr id="17" name="矩形 16"/>
          <p:cNvSpPr/>
          <p:nvPr userDrawn="1"/>
        </p:nvSpPr>
        <p:spPr>
          <a:xfrm>
            <a:off x="-8890" y="4064635"/>
            <a:ext cx="12200255" cy="187706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 descr="西安技师学院西电机电学院简称LOGO1"/>
          <p:cNvPicPr>
            <a:picLocks noChangeAspect="1"/>
          </p:cNvPicPr>
          <p:nvPr userDrawn="1"/>
        </p:nvPicPr>
        <p:blipFill>
          <a:blip r:embed="rId3">
            <a:alphaModFix amt="5000"/>
            <a:biLevel thresh="75000"/>
          </a:blip>
          <a:srcRect r="66515"/>
          <a:stretch>
            <a:fillRect/>
          </a:stretch>
        </p:blipFill>
        <p:spPr>
          <a:xfrm>
            <a:off x="4198620" y="579120"/>
            <a:ext cx="3794760" cy="3460115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0" y="1748155"/>
            <a:ext cx="12158345" cy="0"/>
          </a:xfrm>
          <a:prstGeom prst="line">
            <a:avLst/>
          </a:prstGeom>
          <a:ln w="76200" cap="flat" cmpd="sng">
            <a:gradFill>
              <a:gsLst>
                <a:gs pos="0">
                  <a:schemeClr val="accent1"/>
                </a:gs>
                <a:gs pos="100000">
                  <a:schemeClr val="accent6"/>
                </a:gs>
              </a:gsLst>
              <a:lin ang="0" scaled="0"/>
            </a:gradFill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school-pptx:timeline-anchor"/>
          <p:cNvSpPr/>
          <p:nvPr userDrawn="1"/>
        </p:nvSpPr>
        <p:spPr>
          <a:xfrm>
            <a:off x="696000" y="1695435"/>
            <a:ext cx="11140440" cy="480315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pic>
        <p:nvPicPr>
          <p:cNvPr id="8" name="图片 7" descr="常用标识及文件55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815330"/>
            <a:ext cx="12192000" cy="628650"/>
          </a:xfrm>
          <a:prstGeom prst="rect">
            <a:avLst/>
          </a:prstGeom>
        </p:spPr>
      </p:pic>
      <p:pic>
        <p:nvPicPr>
          <p:cNvPr id="9" name="图片 8" descr="西安技师学院西电机电学院简称LOGO1"/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69850" y="5887085"/>
            <a:ext cx="1589405" cy="48514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>
            <a:alphaModFix amt="10000"/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 b="49699"/>
          <a:stretch>
            <a:fillRect/>
          </a:stretch>
        </p:blipFill>
        <p:spPr>
          <a:xfrm>
            <a:off x="-34290" y="1748155"/>
            <a:ext cx="12192635" cy="4088765"/>
          </a:xfrm>
          <a:prstGeom prst="rect">
            <a:avLst/>
          </a:prstGeom>
          <a:noFill/>
          <a:effectLst>
            <a:softEdge rad="31750"/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封面背景" descr="常用标识及文件7755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8255" y="4577715"/>
            <a:ext cx="12187555" cy="1364615"/>
          </a:xfrm>
          <a:prstGeom prst="rect">
            <a:avLst/>
          </a:prstGeom>
        </p:spPr>
      </p:pic>
      <p:pic>
        <p:nvPicPr>
          <p:cNvPr id="27" name="图片 26" descr="西安技师学院西电机电学院简称LOGO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98560" y="579120"/>
            <a:ext cx="2793365" cy="852805"/>
          </a:xfrm>
          <a:prstGeom prst="rect">
            <a:avLst/>
          </a:prstGeom>
        </p:spPr>
      </p:pic>
      <p:pic>
        <p:nvPicPr>
          <p:cNvPr id="25" name="图片 24" descr="图片1-图片2填充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350" y="5870575"/>
            <a:ext cx="12186285" cy="708025"/>
          </a:xfrm>
          <a:prstGeom prst="rect">
            <a:avLst/>
          </a:prstGeom>
          <a:noFill/>
        </p:spPr>
      </p:pic>
      <p:pic>
        <p:nvPicPr>
          <p:cNvPr id="12" name="封面背景" descr="常用标识及文件77555"/>
          <p:cNvPicPr>
            <a:picLocks noChangeAspect="1"/>
          </p:cNvPicPr>
          <p:nvPr userDrawn="1"/>
        </p:nvPicPr>
        <p:blipFill>
          <a:blip r:embed="rId2"/>
          <a:srcRect r="78753"/>
          <a:stretch>
            <a:fillRect/>
          </a:stretch>
        </p:blipFill>
        <p:spPr>
          <a:xfrm>
            <a:off x="-8255" y="4986020"/>
            <a:ext cx="2589530" cy="1002030"/>
          </a:xfrm>
          <a:prstGeom prst="rect">
            <a:avLst/>
          </a:prstGeom>
        </p:spPr>
      </p:pic>
      <p:pic>
        <p:nvPicPr>
          <p:cNvPr id="13" name="封面背景" descr="常用标识及文件77555"/>
          <p:cNvPicPr>
            <a:picLocks noChangeAspect="1"/>
          </p:cNvPicPr>
          <p:nvPr userDrawn="1"/>
        </p:nvPicPr>
        <p:blipFill>
          <a:blip r:embed="rId2"/>
          <a:srcRect r="79816"/>
          <a:stretch>
            <a:fillRect/>
          </a:stretch>
        </p:blipFill>
        <p:spPr>
          <a:xfrm>
            <a:off x="0" y="5074920"/>
            <a:ext cx="2459990" cy="1002030"/>
          </a:xfrm>
          <a:prstGeom prst="rect">
            <a:avLst/>
          </a:prstGeom>
        </p:spPr>
      </p:pic>
      <p:pic>
        <p:nvPicPr>
          <p:cNvPr id="2" name="图片 1" descr="西安技师学院西电机电学院简称LOGO1"/>
          <p:cNvPicPr>
            <a:picLocks noChangeAspect="1"/>
          </p:cNvPicPr>
          <p:nvPr userDrawn="1"/>
        </p:nvPicPr>
        <p:blipFill>
          <a:blip r:embed="rId3">
            <a:alphaModFix amt="20000"/>
          </a:blip>
          <a:srcRect r="66515"/>
          <a:stretch>
            <a:fillRect/>
          </a:stretch>
        </p:blipFill>
        <p:spPr>
          <a:xfrm>
            <a:off x="4198620" y="579120"/>
            <a:ext cx="3794760" cy="3460115"/>
          </a:xfrm>
          <a:prstGeom prst="rect">
            <a:avLst/>
          </a:prstGeom>
        </p:spPr>
      </p:pic>
      <p:pic>
        <p:nvPicPr>
          <p:cNvPr id="14" name="封面背景" descr="常用标识及文件77555"/>
          <p:cNvPicPr>
            <a:picLocks noChangeAspect="1"/>
          </p:cNvPicPr>
          <p:nvPr userDrawn="1"/>
        </p:nvPicPr>
        <p:blipFill>
          <a:blip r:embed="rId2"/>
          <a:srcRect r="80394"/>
          <a:stretch>
            <a:fillRect/>
          </a:stretch>
        </p:blipFill>
        <p:spPr>
          <a:xfrm>
            <a:off x="0" y="5121910"/>
            <a:ext cx="2389505" cy="1002030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-8890" y="4578350"/>
            <a:ext cx="12200255" cy="136334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0" y="1748155"/>
            <a:ext cx="12158345" cy="0"/>
          </a:xfrm>
          <a:prstGeom prst="line">
            <a:avLst/>
          </a:prstGeom>
          <a:ln w="76200" cap="flat" cmpd="sng">
            <a:gradFill>
              <a:gsLst>
                <a:gs pos="0">
                  <a:schemeClr val="accent1"/>
                </a:gs>
                <a:gs pos="100000">
                  <a:schemeClr val="accent6"/>
                </a:gs>
              </a:gsLst>
              <a:lin ang="0" scaled="0"/>
            </a:gradFill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图片 10" descr="常用标识及文件55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815330"/>
            <a:ext cx="12192000" cy="628650"/>
          </a:xfrm>
          <a:prstGeom prst="rect">
            <a:avLst/>
          </a:prstGeom>
        </p:spPr>
      </p:pic>
      <p:pic>
        <p:nvPicPr>
          <p:cNvPr id="12" name="图片 11" descr="西安技师学院西电机电学院简称LOGO1"/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69850" y="5887085"/>
            <a:ext cx="1589405" cy="48514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>
            <a:alphaModFix amt="10000"/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 b="49699"/>
          <a:stretch>
            <a:fillRect/>
          </a:stretch>
        </p:blipFill>
        <p:spPr>
          <a:xfrm>
            <a:off x="-34290" y="1748155"/>
            <a:ext cx="12192635" cy="4088765"/>
          </a:xfrm>
          <a:prstGeom prst="rect">
            <a:avLst/>
          </a:prstGeom>
          <a:noFill/>
          <a:effectLst>
            <a:softEdge rad="31750"/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0" y="1748155"/>
            <a:ext cx="12158345" cy="0"/>
          </a:xfrm>
          <a:prstGeom prst="line">
            <a:avLst/>
          </a:prstGeom>
          <a:ln w="76200" cap="flat" cmpd="sng">
            <a:gradFill>
              <a:gsLst>
                <a:gs pos="0">
                  <a:schemeClr val="accent1"/>
                </a:gs>
                <a:gs pos="100000">
                  <a:schemeClr val="accent6"/>
                </a:gs>
              </a:gsLst>
              <a:lin ang="0" scaled="0"/>
            </a:gradFill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常用标识及文件55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815330"/>
            <a:ext cx="12192000" cy="628650"/>
          </a:xfrm>
          <a:prstGeom prst="rect">
            <a:avLst/>
          </a:prstGeom>
        </p:spPr>
      </p:pic>
      <p:pic>
        <p:nvPicPr>
          <p:cNvPr id="10" name="图片 9" descr="西安技师学院西电机电学院简称LOGO1"/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69850" y="5887085"/>
            <a:ext cx="1589405" cy="48514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>
            <a:alphaModFix amt="10000"/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b="49699"/>
          <a:stretch>
            <a:fillRect/>
          </a:stretch>
        </p:blipFill>
        <p:spPr>
          <a:xfrm>
            <a:off x="-34290" y="1748155"/>
            <a:ext cx="12192635" cy="4088765"/>
          </a:xfrm>
          <a:prstGeom prst="rect">
            <a:avLst/>
          </a:prstGeom>
          <a:noFill/>
          <a:effectLst>
            <a:softEdge rad="31750"/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常用标识及文件55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815330"/>
            <a:ext cx="12192000" cy="628650"/>
          </a:xfrm>
          <a:prstGeom prst="rect">
            <a:avLst/>
          </a:prstGeom>
        </p:spPr>
      </p:pic>
      <p:pic>
        <p:nvPicPr>
          <p:cNvPr id="10" name="图片 9" descr="西安技师学院西电机电学院简称LOGO1"/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69850" y="5887085"/>
            <a:ext cx="1589405" cy="48514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>
            <a:alphaModFix amt="10000"/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b="28458"/>
          <a:stretch>
            <a:fillRect/>
          </a:stretch>
        </p:blipFill>
        <p:spPr>
          <a:xfrm>
            <a:off x="-635" y="0"/>
            <a:ext cx="12192635" cy="5815330"/>
          </a:xfrm>
          <a:prstGeom prst="rect">
            <a:avLst/>
          </a:prstGeom>
          <a:noFill/>
          <a:effectLst>
            <a:softEdge rad="31750"/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封面背景" descr="常用标识及文件7755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8255" y="2033270"/>
            <a:ext cx="12187555" cy="2891790"/>
          </a:xfrm>
          <a:prstGeom prst="rect">
            <a:avLst/>
          </a:prstGeom>
        </p:spPr>
      </p:pic>
      <p:pic>
        <p:nvPicPr>
          <p:cNvPr id="7" name="图片 6" descr="常用标识及文件66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2033270"/>
            <a:ext cx="12192000" cy="2674620"/>
          </a:xfrm>
          <a:prstGeom prst="rect">
            <a:avLst/>
          </a:prstGeom>
        </p:spPr>
      </p:pic>
      <p:pic>
        <p:nvPicPr>
          <p:cNvPr id="8" name="图片 7" descr="常用标识及文件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089525" y="2510155"/>
            <a:ext cx="2778125" cy="103060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4469130"/>
            <a:ext cx="12192000" cy="45593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9" name="图片 8" descr="西安技师学院西电机电学院简称LOGO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869815" y="5149850"/>
            <a:ext cx="2793365" cy="8528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chool-pptx:cover-title"/>
          <p:cNvSpPr txBox="1"/>
          <p:nvPr/>
        </p:nvSpPr>
        <p:spPr>
          <a:xfrm>
            <a:off x="1524000" y="2074545"/>
            <a:ext cx="9144000" cy="165481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6000">
                <a:solidFill>
                  <a:schemeClr val="bg1"/>
                </a:solidFill>
                <a:latin typeface="黑体" panose="02010609060101010101" charset="-122"/>
              </a:rPr>
              <a:t>职业院校智能制造课程建设</a:t>
            </a:r>
            <a:endParaRPr sz="6000">
              <a:solidFill>
                <a:schemeClr val="bg1"/>
              </a:solidFill>
              <a:latin typeface="黑体" panose="02010609060101010101" charset="-122"/>
            </a:endParaRPr>
          </a:p>
        </p:txBody>
      </p:sp>
      <p:sp>
        <p:nvSpPr>
          <p:cNvPr id="3" name="school-pptx:cover-subtitle"/>
          <p:cNvSpPr txBox="1"/>
          <p:nvPr/>
        </p:nvSpPr>
        <p:spPr>
          <a:xfrm>
            <a:off x="1524000" y="4100195"/>
            <a:ext cx="9144000" cy="1654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>
                <a:solidFill>
                  <a:schemeClr val="bg1"/>
                </a:solidFill>
              </a:rPr>
              <a:t>课程体系、实训条件与实施路径
示例职业技术学院 · 智能制造学院
智能产线安装与调试 · 课程建设团队 · 2026-07-13</a:t>
            </a:r>
            <a:endParaRPr sz="20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chool-pptx:body"/>
          <p:cNvSpPr txBox="1"/>
          <p:nvPr/>
        </p:nvSpPr>
        <p:spPr>
          <a:xfrm>
            <a:off x="4181475" y="1573530"/>
            <a:ext cx="7466330" cy="387477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>
              <a:lnSpc>
                <a:spcPct val="120000"/>
              </a:lnSpc>
              <a:spcAft>
                <a:spcPts val="200"/>
              </a:spcAft>
            </a:pPr>
            <a:r>
              <a:rPr sz="3200"/>
              <a:t>一、课程建设目标</a:t>
            </a:r>
            <a:endParaRPr sz="3200"/>
          </a:p>
          <a:p>
            <a:pPr algn="just">
              <a:lnSpc>
                <a:spcPct val="120000"/>
              </a:lnSpc>
              <a:spcAft>
                <a:spcPts val="200"/>
              </a:spcAft>
            </a:pPr>
            <a:r>
              <a:rPr sz="3200"/>
              <a:t>二、课程内容与实训环境</a:t>
            </a:r>
            <a:endParaRPr sz="3200"/>
          </a:p>
          <a:p>
            <a:pPr algn="just">
              <a:lnSpc>
                <a:spcPct val="120000"/>
              </a:lnSpc>
              <a:spcAft>
                <a:spcPts val="200"/>
              </a:spcAft>
            </a:pPr>
            <a:r>
              <a:rPr sz="3200"/>
              <a:t>三、教学实施与质量评价</a:t>
            </a:r>
            <a:endParaRPr sz="3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chool-pptx:slide-title"/>
          <p:cNvSpPr txBox="1"/>
          <p:nvPr/>
        </p:nvSpPr>
        <p:spPr>
          <a:xfrm>
            <a:off x="831850" y="1710690"/>
            <a:ext cx="10514965" cy="285178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/>
            <a:r>
              <a:rPr sz="6600"/>
              <a:t>一、课程建设目标</a:t>
            </a:r>
            <a:endParaRPr sz="66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chool-pptx:slide-title"/>
          <p:cNvSpPr txBox="1"/>
          <p:nvPr/>
        </p:nvSpPr>
        <p:spPr>
          <a:xfrm>
            <a:off x="838200" y="365125"/>
            <a:ext cx="10508615" cy="1325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4800"/>
              <a:t>面向岗位能力重构课程目标</a:t>
            </a:r>
            <a:endParaRPr sz="4800"/>
          </a:p>
        </p:txBody>
      </p:sp>
      <p:sp>
        <p:nvSpPr>
          <p:cNvPr id="3" name="school-pptx:body"/>
          <p:cNvSpPr txBox="1"/>
          <p:nvPr/>
        </p:nvSpPr>
        <p:spPr>
          <a:xfrm>
            <a:off x="838200" y="1825625"/>
            <a:ext cx="10515600" cy="365887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just">
              <a:lnSpc>
                <a:spcPct val="120000"/>
              </a:lnSpc>
              <a:spcAft>
                <a:spcPts val="200"/>
              </a:spcAft>
            </a:pPr>
            <a:r>
              <a:rPr sz="2800"/>
              <a:t>建设主线</a:t>
            </a:r>
            <a:endParaRPr sz="2800"/>
          </a:p>
          <a:p>
            <a:pPr algn="just">
              <a:lnSpc>
                <a:spcPct val="120000"/>
              </a:lnSpc>
              <a:spcAft>
                <a:spcPts val="200"/>
              </a:spcAft>
            </a:pPr>
            <a:r>
              <a:rPr sz="2800"/>
              <a:t>课程以智能制造产线的安装、编程、调试与维护岗位为对象，把</a:t>
            </a:r>
            <a:r>
              <a:rPr sz="2800" b="1"/>
              <a:t>安全规范、工艺质量、系统联调和故障诊断</a:t>
            </a:r>
            <a:r>
              <a:rPr sz="2800"/>
              <a:t>贯穿学习全过程，并以</a:t>
            </a:r>
            <a:r>
              <a:rPr sz="2800" b="1">
                <a:solidFill>
                  <a:srgbClr val="FFFFFF"/>
                </a:solidFill>
                <a:highlight>
                  <a:schemeClr val="accent1"/>
                </a:highlight>
              </a:rPr>
              <a:t>真实生产任务</a:t>
            </a:r>
            <a:r>
              <a:rPr sz="2800"/>
              <a:t>作为教学组织主线。学生不仅要完成设备动作，还要能够解释信号流、判断异常来源、记录处置证据，并在团队协作中承担计划、实施、检查和复盘责任。</a:t>
            </a:r>
            <a:endParaRPr sz="28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chool-pptx:slide-title"/>
          <p:cNvSpPr txBox="1"/>
          <p:nvPr/>
        </p:nvSpPr>
        <p:spPr>
          <a:xfrm>
            <a:off x="838200" y="365125"/>
            <a:ext cx="10508615" cy="1325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4800"/>
              <a:t>面向岗位能力重构课程目标</a:t>
            </a:r>
            <a:endParaRPr sz="4800"/>
          </a:p>
        </p:txBody>
      </p:sp>
      <p:sp>
        <p:nvSpPr>
          <p:cNvPr id="3" name="school-pptx:body"/>
          <p:cNvSpPr txBox="1"/>
          <p:nvPr/>
        </p:nvSpPr>
        <p:spPr>
          <a:xfrm>
            <a:off x="838200" y="1825625"/>
            <a:ext cx="10515600" cy="365887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just">
              <a:lnSpc>
                <a:spcPct val="120000"/>
              </a:lnSpc>
              <a:spcAft>
                <a:spcPts val="200"/>
              </a:spcAft>
            </a:pPr>
            <a:r>
              <a:rPr sz="2600"/>
              <a:t>对接机电设备装调工、工业机器人系统运维员等岗位典型工作任务。</a:t>
            </a:r>
            <a:endParaRPr sz="2600"/>
          </a:p>
          <a:p>
            <a:pPr algn="just">
              <a:lnSpc>
                <a:spcPct val="120000"/>
              </a:lnSpc>
              <a:spcAft>
                <a:spcPts val="200"/>
              </a:spcAft>
            </a:pPr>
            <a:r>
              <a:rPr sz="2600"/>
              <a:t>将电气识图、传感检测、PLC 编程、工业网络和机器人应用组织为递进项目。</a:t>
            </a:r>
            <a:endParaRPr sz="2600"/>
          </a:p>
          <a:p>
            <a:pPr algn="just">
              <a:lnSpc>
                <a:spcPct val="120000"/>
              </a:lnSpc>
              <a:spcAft>
                <a:spcPts val="200"/>
              </a:spcAft>
            </a:pPr>
            <a:r>
              <a:rPr sz="2600"/>
              <a:t>采用任务书、过程记录、作品验收、口头答辩和企业评价相结合的证据链。</a:t>
            </a:r>
            <a:endParaRPr sz="2600"/>
          </a:p>
          <a:p>
            <a:pPr algn="just">
              <a:lnSpc>
                <a:spcPct val="120000"/>
              </a:lnSpc>
              <a:spcAft>
                <a:spcPts val="200"/>
              </a:spcAft>
            </a:pPr>
            <a:r>
              <a:rPr sz="2600"/>
              <a:t>让课程资源同步服务日常教学、技能竞赛、企业培训和社会技术服务。</a:t>
            </a:r>
            <a:endParaRPr sz="26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chool-pptx:slide-title"/>
          <p:cNvSpPr txBox="1"/>
          <p:nvPr/>
        </p:nvSpPr>
        <p:spPr>
          <a:xfrm>
            <a:off x="838200" y="365125"/>
            <a:ext cx="10508615" cy="1325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4800"/>
              <a:t>面向岗位能力重构课程目标</a:t>
            </a:r>
            <a:endParaRPr sz="4800"/>
          </a:p>
        </p:txBody>
      </p:sp>
      <p:sp>
        <p:nvSpPr>
          <p:cNvPr id="3" name="school-pptx:body"/>
          <p:cNvSpPr txBox="1"/>
          <p:nvPr/>
        </p:nvSpPr>
        <p:spPr>
          <a:xfrm>
            <a:off x="838200" y="1825625"/>
            <a:ext cx="10515600" cy="365887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just">
              <a:lnSpc>
                <a:spcPct val="120000"/>
              </a:lnSpc>
              <a:spcAft>
                <a:spcPts val="200"/>
              </a:spcAft>
            </a:pPr>
            <a:r>
              <a:rPr sz="2600"/>
              <a:t>每轮教学后汇总共性故障、工艺缺陷和学生反思，持续更新案例库与评价量表。</a:t>
            </a:r>
            <a:endParaRPr sz="2600"/>
          </a:p>
          <a:p>
            <a:pPr algn="just">
              <a:lnSpc>
                <a:spcPct val="120000"/>
              </a:lnSpc>
              <a:spcAft>
                <a:spcPts val="200"/>
              </a:spcAft>
            </a:pPr>
            <a:r>
              <a:rPr sz="2600"/>
              <a:t>对关键安全动作设置教师复核点，确保通电、联机和运动测试均有明确边界。</a:t>
            </a:r>
            <a:endParaRPr sz="2600"/>
          </a:p>
          <a:p>
            <a:pPr algn="just">
              <a:lnSpc>
                <a:spcPct val="120000"/>
              </a:lnSpc>
              <a:spcAft>
                <a:spcPts val="200"/>
              </a:spcAft>
            </a:pPr>
            <a:r>
              <a:rPr sz="2600"/>
              <a:t>通过跨专业协作任务，让学生理解机械、电气、控制与信息系统之间的接口关系。</a:t>
            </a:r>
            <a:endParaRPr sz="26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chool-pptx:slide-title"/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4800"/>
              <a:t>课程体系由岗位任务向学习项目转换</a:t>
            </a:r>
            <a:endParaRPr sz="4800"/>
          </a:p>
        </p:txBody>
      </p:sp>
      <p:sp>
        <p:nvSpPr>
          <p:cNvPr id="3" name="school-pptx:left_body"/>
          <p:cNvSpPr txBox="1"/>
          <p:nvPr/>
        </p:nvSpPr>
        <p:spPr>
          <a:xfrm>
            <a:off x="839788" y="2505075"/>
            <a:ext cx="5157787" cy="298005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just">
              <a:lnSpc>
                <a:spcPct val="120000"/>
              </a:lnSpc>
              <a:spcAft>
                <a:spcPts val="200"/>
              </a:spcAft>
            </a:pPr>
            <a:r>
              <a:rPr sz="2200"/>
              <a:t>岗位任务</a:t>
            </a:r>
            <a:endParaRPr sz="2200"/>
          </a:p>
          <a:p>
            <a:pPr algn="just">
              <a:lnSpc>
                <a:spcPct val="120000"/>
              </a:lnSpc>
              <a:spcAft>
                <a:spcPts val="200"/>
              </a:spcAft>
            </a:pPr>
            <a:r>
              <a:rPr sz="2200"/>
              <a:t>分析订单与工艺要求，确认设备节拍、质量标准和安全边界。</a:t>
            </a:r>
            <a:endParaRPr sz="2200"/>
          </a:p>
        </p:txBody>
      </p:sp>
      <p:sp>
        <p:nvSpPr>
          <p:cNvPr id="4" name="school-pptx:right_body"/>
          <p:cNvSpPr txBox="1"/>
          <p:nvPr/>
        </p:nvSpPr>
        <p:spPr>
          <a:xfrm>
            <a:off x="6172200" y="2505075"/>
            <a:ext cx="5183188" cy="29794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just">
              <a:lnSpc>
                <a:spcPct val="120000"/>
              </a:lnSpc>
              <a:spcAft>
                <a:spcPts val="200"/>
              </a:spcAft>
            </a:pPr>
            <a:r>
              <a:rPr sz="2200"/>
              <a:t>学习项目</a:t>
            </a:r>
            <a:endParaRPr sz="2200"/>
          </a:p>
          <a:p>
            <a:pPr algn="just">
              <a:lnSpc>
                <a:spcPct val="120000"/>
              </a:lnSpc>
              <a:spcAft>
                <a:spcPts val="200"/>
              </a:spcAft>
            </a:pPr>
            <a:r>
              <a:rPr sz="2200"/>
              <a:t>完成智能产线任务导入，绘制工艺流程并分配小组角色。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chool-pptx:slide-title"/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4800"/>
              <a:t>课程体系由岗位任务向学习项目转换</a:t>
            </a:r>
            <a:endParaRPr sz="4800"/>
          </a:p>
        </p:txBody>
      </p:sp>
      <p:sp>
        <p:nvSpPr>
          <p:cNvPr id="3" name="school-pptx:left_body"/>
          <p:cNvSpPr txBox="1"/>
          <p:nvPr/>
        </p:nvSpPr>
        <p:spPr>
          <a:xfrm>
            <a:off x="839788" y="2505075"/>
            <a:ext cx="5157787" cy="298005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just">
              <a:lnSpc>
                <a:spcPct val="120000"/>
              </a:lnSpc>
              <a:spcAft>
                <a:spcPts val="200"/>
              </a:spcAft>
            </a:pPr>
            <a:r>
              <a:rPr sz="2200"/>
              <a:t>技术能力</a:t>
            </a:r>
            <a:endParaRPr sz="2200"/>
          </a:p>
          <a:p>
            <a:pPr algn="just">
              <a:lnSpc>
                <a:spcPct val="120000"/>
              </a:lnSpc>
              <a:spcAft>
                <a:spcPts val="200"/>
              </a:spcAft>
            </a:pPr>
            <a:r>
              <a:rPr sz="2200"/>
              <a:t>识读电气与气动图纸。</a:t>
            </a:r>
            <a:endParaRPr sz="2200"/>
          </a:p>
          <a:p>
            <a:pPr algn="just">
              <a:lnSpc>
                <a:spcPct val="120000"/>
              </a:lnSpc>
              <a:spcAft>
                <a:spcPts val="200"/>
              </a:spcAft>
            </a:pPr>
            <a:r>
              <a:rPr sz="2200"/>
              <a:t>配置 PLC、触摸屏与变频器。</a:t>
            </a:r>
            <a:endParaRPr sz="2200"/>
          </a:p>
          <a:p>
            <a:pPr algn="just">
              <a:lnSpc>
                <a:spcPct val="120000"/>
              </a:lnSpc>
              <a:spcAft>
                <a:spcPts val="200"/>
              </a:spcAft>
            </a:pPr>
            <a:r>
              <a:rPr sz="2200"/>
              <a:t>完成机器人坐标与节拍联调。</a:t>
            </a:r>
            <a:endParaRPr sz="2200"/>
          </a:p>
        </p:txBody>
      </p:sp>
      <p:sp>
        <p:nvSpPr>
          <p:cNvPr id="4" name="school-pptx:right_body"/>
          <p:cNvSpPr txBox="1"/>
          <p:nvPr/>
        </p:nvSpPr>
        <p:spPr>
          <a:xfrm>
            <a:off x="6172200" y="2505075"/>
            <a:ext cx="5183188" cy="29794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just">
              <a:lnSpc>
                <a:spcPct val="120000"/>
              </a:lnSpc>
              <a:spcAft>
                <a:spcPts val="200"/>
              </a:spcAft>
            </a:pPr>
            <a:r>
              <a:rPr sz="2200"/>
              <a:t>评价证据</a:t>
            </a:r>
            <a:endParaRPr sz="2200"/>
          </a:p>
          <a:p>
            <a:pPr algn="just">
              <a:lnSpc>
                <a:spcPct val="120000"/>
              </a:lnSpc>
              <a:spcAft>
                <a:spcPts val="200"/>
              </a:spcAft>
            </a:pPr>
            <a:r>
              <a:rPr sz="2200"/>
              <a:t>接线与程序版本记录。</a:t>
            </a:r>
            <a:endParaRPr sz="2200"/>
          </a:p>
          <a:p>
            <a:pPr algn="just">
              <a:lnSpc>
                <a:spcPct val="120000"/>
              </a:lnSpc>
              <a:spcAft>
                <a:spcPts val="200"/>
              </a:spcAft>
            </a:pPr>
            <a:r>
              <a:rPr sz="2200"/>
              <a:t>试运行视频与故障清单。</a:t>
            </a:r>
            <a:endParaRPr sz="2200"/>
          </a:p>
          <a:p>
            <a:pPr algn="just">
              <a:lnSpc>
                <a:spcPct val="120000"/>
              </a:lnSpc>
              <a:spcAft>
                <a:spcPts val="200"/>
              </a:spcAft>
            </a:pPr>
            <a:r>
              <a:rPr sz="2200"/>
              <a:t>小组答辩和个人反思。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chool-pptx:slide-title"/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4800"/>
              <a:t>课程体系由岗位任务向学习项目转换</a:t>
            </a:r>
            <a:endParaRPr sz="4800"/>
          </a:p>
        </p:txBody>
      </p:sp>
      <p:sp>
        <p:nvSpPr>
          <p:cNvPr id="3" name="school-pptx:left_body"/>
          <p:cNvSpPr txBox="1"/>
          <p:nvPr/>
        </p:nvSpPr>
        <p:spPr>
          <a:xfrm>
            <a:off x="839788" y="2505075"/>
            <a:ext cx="5157787" cy="298005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just">
              <a:lnSpc>
                <a:spcPct val="120000"/>
              </a:lnSpc>
              <a:spcAft>
                <a:spcPts val="200"/>
              </a:spcAft>
            </a:pPr>
            <a:r>
              <a:rPr sz="2200"/>
              <a:t>持续改进</a:t>
            </a:r>
            <a:endParaRPr sz="2200"/>
          </a:p>
          <a:p>
            <a:pPr algn="just">
              <a:lnSpc>
                <a:spcPct val="120000"/>
              </a:lnSpc>
              <a:spcAft>
                <a:spcPts val="200"/>
              </a:spcAft>
            </a:pPr>
            <a:r>
              <a:rPr sz="2200"/>
              <a:t>课程团队根据企业反馈和学生常见错误更新任务难度；最后一个未配对块保留在左栏，右栏保持为空。</a:t>
            </a:r>
            <a:endParaRPr sz="2200"/>
          </a:p>
        </p:txBody>
      </p:sp>
      <p:sp>
        <p:nvSpPr>
          <p:cNvPr id="4" name="school-pptx:right_body"/>
          <p:cNvSpPr txBox="1"/>
          <p:nvPr/>
        </p:nvSpPr>
        <p:spPr>
          <a:xfrm>
            <a:off x="6172200" y="2505075"/>
            <a:ext cx="5183188" cy="29794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/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chool-pptx:slide-title"/>
          <p:cNvSpPr txBox="1"/>
          <p:nvPr/>
        </p:nvSpPr>
        <p:spPr>
          <a:xfrm>
            <a:off x="831850" y="1710690"/>
            <a:ext cx="10514965" cy="285178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/>
            <a:r>
              <a:rPr sz="6600"/>
              <a:t>二、课程内容与实训环境</a:t>
            </a:r>
            <a:endParaRPr sz="66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chool-pptx:slide-title"/>
          <p:cNvSpPr txBox="1"/>
          <p:nvPr/>
        </p:nvSpPr>
        <p:spPr>
          <a:xfrm>
            <a:off x="839470" y="457200"/>
            <a:ext cx="10516235" cy="123380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4800"/>
              <a:t>真实设备支撑从单机到产线的能力进阶</a:t>
            </a:r>
            <a:endParaRPr sz="4800"/>
          </a:p>
        </p:txBody>
      </p:sp>
      <p:sp>
        <p:nvSpPr>
          <p:cNvPr id="3" name="school-pptx:body"/>
          <p:cNvSpPr txBox="1"/>
          <p:nvPr/>
        </p:nvSpPr>
        <p:spPr>
          <a:xfrm>
            <a:off x="839788" y="2057400"/>
            <a:ext cx="3932237" cy="342709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just">
              <a:lnSpc>
                <a:spcPct val="120000"/>
              </a:lnSpc>
              <a:spcAft>
                <a:spcPts val="200"/>
              </a:spcAft>
            </a:pPr>
            <a:r>
              <a:rPr sz="2200"/>
              <a:t>实训环境按照“元件检测—控制单元—工业网络—机器人工作站—整线联调”组织。学生在同一任务链中反复执行</a:t>
            </a:r>
            <a:r>
              <a:rPr sz="2200" b="1"/>
              <a:t>检查、接线、编程、验证、记录</a:t>
            </a:r>
            <a:r>
              <a:rPr sz="2200"/>
              <a:t>，逐步形成跨设备诊断能力；教师则通过统一点检表和版本记录保证训练过程可追溯。</a:t>
            </a:r>
            <a:endParaRPr sz="2200"/>
          </a:p>
        </p:txBody>
      </p:sp>
      <p:pic>
        <p:nvPicPr>
          <p:cNvPr id="4" name="school-pptx:image-text-picture" descr="image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565387" y="2227580"/>
            <a:ext cx="5790071" cy="3256915"/>
          </a:xfrm>
          <a:prstGeom prst="rect">
            <a:avLst/>
          </a:prstGeom>
          <a:effectLst>
            <a:outerShdw blurRad="63500" dist="38100" dir="2700000" algn="ctr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chool-pptx:slide-title"/>
          <p:cNvSpPr txBox="1"/>
          <p:nvPr/>
        </p:nvSpPr>
        <p:spPr>
          <a:xfrm>
            <a:off x="839470" y="457200"/>
            <a:ext cx="10516235" cy="123380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4800"/>
              <a:t>真实设备支撑从单机到产线的能力进阶</a:t>
            </a:r>
            <a:endParaRPr sz="4800"/>
          </a:p>
        </p:txBody>
      </p:sp>
      <p:sp>
        <p:nvSpPr>
          <p:cNvPr id="3" name="school-pptx:body"/>
          <p:cNvSpPr txBox="1"/>
          <p:nvPr/>
        </p:nvSpPr>
        <p:spPr>
          <a:xfrm>
            <a:off x="839788" y="2057400"/>
            <a:ext cx="3932237" cy="342709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just">
              <a:lnSpc>
                <a:spcPct val="120000"/>
              </a:lnSpc>
              <a:spcAft>
                <a:spcPts val="200"/>
              </a:spcAft>
            </a:pPr>
            <a:r>
              <a:rPr sz="2200"/>
              <a:t>实训环境按照“元件检测—控制单元—工业网络—机器人工作站—整线联调”组织。学生在同一任务链中反复执行</a:t>
            </a:r>
            <a:r>
              <a:rPr sz="2200" b="1"/>
              <a:t>检查、接线、编程、验证、记录</a:t>
            </a:r>
            <a:r>
              <a:rPr sz="2200"/>
              <a:t>，逐步形成跨设备诊断能力；教师则通过统一点检表和版本记录保证训练过程可追溯。</a:t>
            </a:r>
            <a:endParaRPr sz="2200"/>
          </a:p>
        </p:txBody>
      </p:sp>
      <p:pic>
        <p:nvPicPr>
          <p:cNvPr id="4" name="school-pptx:image-text-picture" descr="image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565387" y="2227580"/>
            <a:ext cx="5790071" cy="3256915"/>
          </a:xfrm>
          <a:prstGeom prst="rect">
            <a:avLst/>
          </a:prstGeom>
          <a:effectLst>
            <a:outerShdw blurRad="63500" dist="38100" dir="2700000" algn="ctr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chool-pptx:slide-title"/>
          <p:cNvSpPr txBox="1"/>
          <p:nvPr/>
        </p:nvSpPr>
        <p:spPr>
          <a:xfrm>
            <a:off x="839470" y="457200"/>
            <a:ext cx="10516235" cy="123380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4800"/>
              <a:t>真实设备支撑从单机到产线的能力进阶</a:t>
            </a:r>
            <a:endParaRPr sz="4800"/>
          </a:p>
        </p:txBody>
      </p:sp>
      <p:sp>
        <p:nvSpPr>
          <p:cNvPr id="3" name="school-pptx:body"/>
          <p:cNvSpPr txBox="1"/>
          <p:nvPr/>
        </p:nvSpPr>
        <p:spPr>
          <a:xfrm>
            <a:off x="839788" y="2057400"/>
            <a:ext cx="3932237" cy="342709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just">
              <a:lnSpc>
                <a:spcPct val="120000"/>
              </a:lnSpc>
              <a:spcAft>
                <a:spcPts val="200"/>
              </a:spcAft>
            </a:pPr>
            <a:r>
              <a:rPr sz="2200"/>
              <a:t>实训环境按照“元件检测—控制单元—工业网络—机器人工作站—整线联调”组织。学生在同一任务链中反复执行</a:t>
            </a:r>
            <a:r>
              <a:rPr sz="2200" b="1"/>
              <a:t>检查、接线、编程、验证、记录</a:t>
            </a:r>
            <a:r>
              <a:rPr sz="2200"/>
              <a:t>，逐步形成跨设备诊断能力；教师则通过统一点检表和版本记录保证训练过程可追溯。</a:t>
            </a:r>
            <a:endParaRPr sz="2200"/>
          </a:p>
        </p:txBody>
      </p:sp>
      <p:pic>
        <p:nvPicPr>
          <p:cNvPr id="4" name="school-pptx:image-text-picture" descr="image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565387" y="2227580"/>
            <a:ext cx="5790071" cy="3256915"/>
          </a:xfrm>
          <a:prstGeom prst="rect">
            <a:avLst/>
          </a:prstGeom>
          <a:effectLst>
            <a:outerShdw blurRad="63500" dist="38100" dir="2700000" algn="ctr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chool-pptx:slide-title"/>
          <p:cNvSpPr txBox="1"/>
          <p:nvPr/>
        </p:nvSpPr>
        <p:spPr>
          <a:xfrm>
            <a:off x="838200" y="365125"/>
            <a:ext cx="10508615" cy="1325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4800"/>
              <a:t>项目化课程模块与学习成果</a:t>
            </a:r>
            <a:endParaRPr sz="4800"/>
          </a:p>
        </p:txBody>
      </p:sp>
      <p:sp>
        <p:nvSpPr>
          <p:cNvPr id="3" name="school-pptx:table-name"/>
          <p:cNvSpPr txBox="1"/>
          <p:nvPr/>
        </p:nvSpPr>
        <p:spPr>
          <a:xfrm>
            <a:off x="838200" y="1825625"/>
            <a:ext cx="10515600" cy="548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800"/>
              <a:t>课程模块、典型任务与验收证据</a:t>
            </a:r>
            <a:endParaRPr sz="1800"/>
          </a:p>
        </p:txBody>
      </p:sp>
      <p:graphicFrame>
        <p:nvGraphicFramePr>
          <p:cNvPr id="4" name="school-pptx:native-table"/>
          <p:cNvGraphicFramePr>
            <a:graphicFrameLocks noGrp="1"/>
          </p:cNvGraphicFramePr>
          <p:nvPr/>
        </p:nvGraphicFramePr>
        <p:xfrm>
          <a:off x="838200" y="2373625"/>
          <a:ext cx="10515600" cy="3110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2794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模块</a:t>
                      </a:r>
                      <a:endParaRPr sz="15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典型任务</a:t>
                      </a:r>
                      <a:endParaRPr sz="15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核心知识与技能</a:t>
                      </a:r>
                      <a:endParaRPr sz="15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主要成果</a:t>
                      </a:r>
                      <a:endParaRPr sz="15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评价重点</a:t>
                      </a:r>
                      <a:endParaRPr sz="15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</a:tr>
              <a:tr h="510012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安全与规范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实训工位风险辨识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急停、接地、绝缘与锁定挂牌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风险清单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边界判断准确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</a:tr>
              <a:tr h="510012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电气识图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识读产线控制原理图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主回路、控制回路、端子与线号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图纸批注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信号关系清楚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</a:tr>
              <a:tr h="510012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元件检测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检测接触器与传感器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触点、线圈、量程与状态判断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检测记录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方法规范完整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</a:tr>
              <a:tr h="510012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线路安装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安装电机启停控制线路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选线、压接、布线与自检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接线作品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工艺整齐可靠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</a:tr>
              <a:tr h="510011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PLC 基础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编写顺序控制程序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I/O 分配、定时计数与互锁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程序版本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逻辑安全稳定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</a:tr>
              <a:tr h="281411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触摸屏组态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制作设备操作界面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变量映射、报警与权限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组态工程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交互清晰可用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chool-pptx:slide-title"/>
          <p:cNvSpPr txBox="1"/>
          <p:nvPr/>
        </p:nvSpPr>
        <p:spPr>
          <a:xfrm>
            <a:off x="838200" y="365125"/>
            <a:ext cx="10508615" cy="1325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4800"/>
              <a:t>项目化课程模块与学习成果</a:t>
            </a:r>
            <a:endParaRPr sz="4800"/>
          </a:p>
        </p:txBody>
      </p:sp>
      <p:sp>
        <p:nvSpPr>
          <p:cNvPr id="3" name="school-pptx:table-name"/>
          <p:cNvSpPr txBox="1"/>
          <p:nvPr/>
        </p:nvSpPr>
        <p:spPr>
          <a:xfrm>
            <a:off x="838200" y="1825625"/>
            <a:ext cx="10515600" cy="548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800"/>
              <a:t>课程模块、典型任务与验收证据（续）</a:t>
            </a:r>
            <a:endParaRPr sz="1800"/>
          </a:p>
        </p:txBody>
      </p:sp>
      <p:graphicFrame>
        <p:nvGraphicFramePr>
          <p:cNvPr id="4" name="school-pptx:native-table"/>
          <p:cNvGraphicFramePr>
            <a:graphicFrameLocks noGrp="1"/>
          </p:cNvGraphicFramePr>
          <p:nvPr/>
        </p:nvGraphicFramePr>
        <p:xfrm>
          <a:off x="838200" y="2373625"/>
          <a:ext cx="10515600" cy="3110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2794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模块</a:t>
                      </a:r>
                      <a:endParaRPr sz="15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典型任务</a:t>
                      </a:r>
                      <a:endParaRPr sz="15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核心知识与技能</a:t>
                      </a:r>
                      <a:endParaRPr sz="15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主要成果</a:t>
                      </a:r>
                      <a:endParaRPr sz="15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评价重点</a:t>
                      </a:r>
                      <a:endParaRPr sz="15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</a:tr>
              <a:tr h="306525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变频调速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配置输送线速度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参数设置、通讯与保护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参数清单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调速平稳安全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</a:tr>
              <a:tr h="535125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工业网络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组建控制设备网络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地址规划、诊断与数据交换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网络拓扑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通讯稳定可查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</a:tr>
              <a:tr h="30652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机器人基础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建立坐标并示教轨迹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坐标系、工具与安全区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示教程序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轨迹合理安全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</a:tr>
              <a:tr h="30652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视觉检测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配置工件质量识别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光源、特征与结果通信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检测方案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识别结果可信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</a:tr>
              <a:tr h="30652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整线联调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联调供料、加工与分拣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节拍、互锁、异常恢复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运行视频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系统协同稳定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</a:tr>
              <a:tr h="53512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故障诊断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排查随机注入故障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现象记录、假设验证与复测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排故报告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路径有据可循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</a:tr>
              <a:tr h="53512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综合改进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优化节拍与质量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数据分析、方案比较与复盘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改进提案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结论可实施</a:t>
                      </a:r>
                      <a:endParaRPr sz="1500" b="0">
                        <a:solidFill>
                          <a:srgbClr val="1F4E79"/>
                        </a:solidFill>
                      </a:endParaRPr>
                    </a:p>
                  </a:txBody>
                  <a:tcPr anchor="ctr">
                    <a:solidFill>
                      <a:srgbClr val="D9E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chool-pptx:slide-title"/>
          <p:cNvSpPr txBox="1"/>
          <p:nvPr/>
        </p:nvSpPr>
        <p:spPr>
          <a:xfrm>
            <a:off x="838200" y="365125"/>
            <a:ext cx="10508615" cy="1325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4800"/>
              <a:t>课程建设分阶段实施</a:t>
            </a:r>
            <a:endParaRPr sz="4800"/>
          </a:p>
        </p:txBody>
      </p:sp>
      <p:sp>
        <p:nvSpPr>
          <p:cNvPr id="3" name="school-pptx:timeline-axis"/>
          <p:cNvSpPr/>
          <p:nvPr/>
        </p:nvSpPr>
        <p:spPr>
          <a:xfrm>
            <a:off x="696000" y="3471225"/>
            <a:ext cx="10800000" cy="50000"/>
          </a:xfrm>
          <a:prstGeom prst="rect">
            <a:avLst/>
          </a:prstGeom>
          <a:gradFill rotWithShape="1">
            <a:gsLst>
              <a:gs pos="0">
                <a:schemeClr val="accent6"/>
              </a:gs>
              <a:gs pos="100000">
                <a:schemeClr val="accent1"/>
              </a:gs>
            </a:gsLst>
            <a:lin ang="10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" name="school-pptx:timeline-node:0"/>
          <p:cNvGrpSpPr/>
          <p:nvPr/>
        </p:nvGrpSpPr>
        <p:grpSpPr>
          <a:xfrm>
            <a:off x="838200" y="2845435"/>
            <a:ext cx="1230629" cy="2350000"/>
            <a:chOff x="838200" y="2845435"/>
            <a:chExt cx="1230629" cy="2350000"/>
          </a:xfrm>
        </p:grpSpPr>
        <p:sp>
          <p:nvSpPr>
            <p:cNvPr id="4" name="school-pptx:timeline-time:0"/>
            <p:cNvSpPr txBox="1"/>
            <p:nvPr/>
          </p:nvSpPr>
          <p:spPr>
            <a:xfrm>
              <a:off x="838200" y="2845435"/>
              <a:ext cx="1230629" cy="45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sz="2000"/>
                <a:t>第1月</a:t>
              </a:r>
              <a:endParaRPr sz="2000"/>
            </a:p>
          </p:txBody>
        </p:sp>
        <p:sp>
          <p:nvSpPr>
            <p:cNvPr id="5" name="school-pptx:timeline-title:0"/>
            <p:cNvSpPr txBox="1"/>
            <p:nvPr/>
          </p:nvSpPr>
          <p:spPr>
            <a:xfrm>
              <a:off x="838200" y="3645435"/>
              <a:ext cx="1230629" cy="55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sz="2000"/>
                <a:t>岗位调研</a:t>
              </a:r>
              <a:endParaRPr sz="2000"/>
            </a:p>
          </p:txBody>
        </p:sp>
        <p:sp>
          <p:nvSpPr>
            <p:cNvPr id="6" name="school-pptx:timeline-description:0"/>
            <p:cNvSpPr txBox="1"/>
            <p:nvPr/>
          </p:nvSpPr>
          <p:spPr>
            <a:xfrm>
              <a:off x="838200" y="4195435"/>
              <a:ext cx="1230629" cy="100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600"/>
                <a:t>访谈企业技术人员，整理典型任务、质量标准与安全要求。</a:t>
              </a:r>
              <a:endParaRPr sz="1600"/>
            </a:p>
          </p:txBody>
        </p:sp>
        <p:sp>
          <p:nvSpPr>
            <p:cNvPr id="7" name="school-pptx:timeline-marker:0"/>
            <p:cNvSpPr/>
            <p:nvPr/>
          </p:nvSpPr>
          <p:spPr>
            <a:xfrm>
              <a:off x="1341640" y="3395435"/>
              <a:ext cx="200000" cy="200000"/>
            </a:xfrm>
            <a:prstGeom prst="ellipse">
              <a:avLst/>
            </a:prstGeom>
            <a:solidFill>
              <a:srgbClr val="6DA9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" name="school-pptx:timeline-node:1"/>
          <p:cNvGrpSpPr/>
          <p:nvPr/>
        </p:nvGrpSpPr>
        <p:grpSpPr>
          <a:xfrm>
            <a:off x="2694940" y="2845435"/>
            <a:ext cx="1230629" cy="2350000"/>
            <a:chOff x="2694940" y="2845435"/>
            <a:chExt cx="1230629" cy="2350000"/>
          </a:xfrm>
        </p:grpSpPr>
        <p:sp>
          <p:nvSpPr>
            <p:cNvPr id="9" name="school-pptx:timeline-time:1"/>
            <p:cNvSpPr txBox="1"/>
            <p:nvPr/>
          </p:nvSpPr>
          <p:spPr>
            <a:xfrm>
              <a:off x="2694940" y="2845435"/>
              <a:ext cx="1230629" cy="45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sz="2000"/>
                <a:t>第2月</a:t>
              </a:r>
              <a:endParaRPr sz="2000"/>
            </a:p>
          </p:txBody>
        </p:sp>
        <p:sp>
          <p:nvSpPr>
            <p:cNvPr id="10" name="school-pptx:timeline-title:1"/>
            <p:cNvSpPr txBox="1"/>
            <p:nvPr/>
          </p:nvSpPr>
          <p:spPr>
            <a:xfrm>
              <a:off x="2694940" y="3645435"/>
              <a:ext cx="1230629" cy="55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sz="2000"/>
                <a:t>能力分析</a:t>
              </a:r>
              <a:endParaRPr sz="2000"/>
            </a:p>
          </p:txBody>
        </p:sp>
        <p:sp>
          <p:nvSpPr>
            <p:cNvPr id="11" name="school-pptx:timeline-description:1"/>
            <p:cNvSpPr txBox="1"/>
            <p:nvPr/>
          </p:nvSpPr>
          <p:spPr>
            <a:xfrm>
              <a:off x="2694940" y="4195435"/>
              <a:ext cx="1230629" cy="100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600"/>
                <a:t>将工作过程拆解为可观察、可训练、可评价的能力单元。</a:t>
              </a:r>
              <a:endParaRPr sz="1600"/>
            </a:p>
          </p:txBody>
        </p:sp>
        <p:sp>
          <p:nvSpPr>
            <p:cNvPr id="12" name="school-pptx:timeline-marker:1"/>
            <p:cNvSpPr/>
            <p:nvPr/>
          </p:nvSpPr>
          <p:spPr>
            <a:xfrm>
              <a:off x="3198380" y="3395435"/>
              <a:ext cx="200000" cy="200000"/>
            </a:xfrm>
            <a:prstGeom prst="ellipse">
              <a:avLst/>
            </a:prstGeom>
            <a:solidFill>
              <a:srgbClr val="659F6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" name="school-pptx:timeline-node:2"/>
          <p:cNvGrpSpPr/>
          <p:nvPr/>
        </p:nvGrpSpPr>
        <p:grpSpPr>
          <a:xfrm>
            <a:off x="4551680" y="2845435"/>
            <a:ext cx="1230629" cy="2350000"/>
            <a:chOff x="4551680" y="2845435"/>
            <a:chExt cx="1230629" cy="2350000"/>
          </a:xfrm>
        </p:grpSpPr>
        <p:sp>
          <p:nvSpPr>
            <p:cNvPr id="14" name="school-pptx:timeline-time:2"/>
            <p:cNvSpPr txBox="1"/>
            <p:nvPr/>
          </p:nvSpPr>
          <p:spPr>
            <a:xfrm>
              <a:off x="4551680" y="2845435"/>
              <a:ext cx="1230629" cy="45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sz="2000"/>
                <a:t>第3月</a:t>
              </a:r>
              <a:endParaRPr sz="2000"/>
            </a:p>
          </p:txBody>
        </p:sp>
        <p:sp>
          <p:nvSpPr>
            <p:cNvPr id="15" name="school-pptx:timeline-title:2"/>
            <p:cNvSpPr txBox="1"/>
            <p:nvPr/>
          </p:nvSpPr>
          <p:spPr>
            <a:xfrm>
              <a:off x="4551680" y="3645435"/>
              <a:ext cx="1230629" cy="55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sz="2000"/>
                <a:t>项目设计</a:t>
              </a:r>
              <a:endParaRPr sz="2000"/>
            </a:p>
          </p:txBody>
        </p:sp>
        <p:sp>
          <p:nvSpPr>
            <p:cNvPr id="16" name="school-pptx:timeline-description:2"/>
            <p:cNvSpPr txBox="1"/>
            <p:nvPr/>
          </p:nvSpPr>
          <p:spPr>
            <a:xfrm>
              <a:off x="4551680" y="4195435"/>
              <a:ext cx="1230629" cy="100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600"/>
                <a:t>形成由单元控制到整线联调的递进学习项目。</a:t>
              </a:r>
              <a:endParaRPr sz="1600"/>
            </a:p>
          </p:txBody>
        </p:sp>
        <p:sp>
          <p:nvSpPr>
            <p:cNvPr id="17" name="school-pptx:timeline-marker:2"/>
            <p:cNvSpPr/>
            <p:nvPr/>
          </p:nvSpPr>
          <p:spPr>
            <a:xfrm>
              <a:off x="5055120" y="3395435"/>
              <a:ext cx="200000" cy="200000"/>
            </a:xfrm>
            <a:prstGeom prst="ellipse">
              <a:avLst/>
            </a:prstGeom>
            <a:solidFill>
              <a:srgbClr val="5E957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" name="school-pptx:timeline-node:3"/>
          <p:cNvGrpSpPr/>
          <p:nvPr/>
        </p:nvGrpSpPr>
        <p:grpSpPr>
          <a:xfrm>
            <a:off x="6408420" y="2845435"/>
            <a:ext cx="1230629" cy="2350000"/>
            <a:chOff x="6408420" y="2845435"/>
            <a:chExt cx="1230629" cy="2350000"/>
          </a:xfrm>
        </p:grpSpPr>
        <p:sp>
          <p:nvSpPr>
            <p:cNvPr id="19" name="school-pptx:timeline-time:3"/>
            <p:cNvSpPr txBox="1"/>
            <p:nvPr/>
          </p:nvSpPr>
          <p:spPr>
            <a:xfrm>
              <a:off x="6408420" y="2845435"/>
              <a:ext cx="1230629" cy="45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sz="2000"/>
                <a:t>第4月</a:t>
              </a:r>
              <a:endParaRPr sz="2000"/>
            </a:p>
          </p:txBody>
        </p:sp>
        <p:sp>
          <p:nvSpPr>
            <p:cNvPr id="20" name="school-pptx:timeline-title:3"/>
            <p:cNvSpPr txBox="1"/>
            <p:nvPr/>
          </p:nvSpPr>
          <p:spPr>
            <a:xfrm>
              <a:off x="6408420" y="3645435"/>
              <a:ext cx="1230629" cy="55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sz="2000"/>
                <a:t>资源开发</a:t>
              </a:r>
              <a:endParaRPr sz="2000"/>
            </a:p>
          </p:txBody>
        </p:sp>
        <p:sp>
          <p:nvSpPr>
            <p:cNvPr id="21" name="school-pptx:timeline-description:3"/>
            <p:cNvSpPr txBox="1"/>
            <p:nvPr/>
          </p:nvSpPr>
          <p:spPr>
            <a:xfrm>
              <a:off x="6408420" y="4195435"/>
              <a:ext cx="1230629" cy="100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600"/>
                <a:t>编写任务书、工作页、微课、故障卡和评价量表。</a:t>
              </a:r>
              <a:endParaRPr sz="1600"/>
            </a:p>
          </p:txBody>
        </p:sp>
        <p:sp>
          <p:nvSpPr>
            <p:cNvPr id="22" name="school-pptx:timeline-marker:3"/>
            <p:cNvSpPr/>
            <p:nvPr/>
          </p:nvSpPr>
          <p:spPr>
            <a:xfrm>
              <a:off x="6911860" y="3395435"/>
              <a:ext cx="200000" cy="200000"/>
            </a:xfrm>
            <a:prstGeom prst="ellipse">
              <a:avLst/>
            </a:prstGeom>
            <a:solidFill>
              <a:srgbClr val="568A9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" name="school-pptx:timeline-node:4"/>
          <p:cNvGrpSpPr/>
          <p:nvPr/>
        </p:nvGrpSpPr>
        <p:grpSpPr>
          <a:xfrm>
            <a:off x="8265160" y="2845435"/>
            <a:ext cx="1230629" cy="2350000"/>
            <a:chOff x="8265160" y="2845435"/>
            <a:chExt cx="1230629" cy="2350000"/>
          </a:xfrm>
        </p:grpSpPr>
        <p:sp>
          <p:nvSpPr>
            <p:cNvPr id="24" name="school-pptx:timeline-time:4"/>
            <p:cNvSpPr txBox="1"/>
            <p:nvPr/>
          </p:nvSpPr>
          <p:spPr>
            <a:xfrm>
              <a:off x="8265160" y="2845435"/>
              <a:ext cx="1230629" cy="45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sz="2000"/>
                <a:t>第5月</a:t>
              </a:r>
              <a:endParaRPr sz="2000"/>
            </a:p>
          </p:txBody>
        </p:sp>
        <p:sp>
          <p:nvSpPr>
            <p:cNvPr id="25" name="school-pptx:timeline-title:4"/>
            <p:cNvSpPr txBox="1"/>
            <p:nvPr/>
          </p:nvSpPr>
          <p:spPr>
            <a:xfrm>
              <a:off x="8265160" y="3645435"/>
              <a:ext cx="1230629" cy="55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sz="2000"/>
                <a:t>环境改造</a:t>
              </a:r>
              <a:endParaRPr sz="2000"/>
            </a:p>
          </p:txBody>
        </p:sp>
        <p:sp>
          <p:nvSpPr>
            <p:cNvPr id="26" name="school-pptx:timeline-description:4"/>
            <p:cNvSpPr txBox="1"/>
            <p:nvPr/>
          </p:nvSpPr>
          <p:spPr>
            <a:xfrm>
              <a:off x="8265160" y="4195435"/>
              <a:ext cx="1230629" cy="100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600"/>
                <a:t>完成工位标识、设备点检、网络配置和安全复核。</a:t>
              </a:r>
              <a:endParaRPr sz="1600"/>
            </a:p>
          </p:txBody>
        </p:sp>
        <p:sp>
          <p:nvSpPr>
            <p:cNvPr id="27" name="school-pptx:timeline-marker:4"/>
            <p:cNvSpPr/>
            <p:nvPr/>
          </p:nvSpPr>
          <p:spPr>
            <a:xfrm>
              <a:off x="8768600" y="3395435"/>
              <a:ext cx="200000" cy="200000"/>
            </a:xfrm>
            <a:prstGeom prst="ellipse">
              <a:avLst/>
            </a:prstGeom>
            <a:solidFill>
              <a:srgbClr val="4F80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3" name="school-pptx:timeline-node:5"/>
          <p:cNvGrpSpPr/>
          <p:nvPr/>
        </p:nvGrpSpPr>
        <p:grpSpPr>
          <a:xfrm>
            <a:off x="10121900" y="2845435"/>
            <a:ext cx="1230629" cy="2350000"/>
            <a:chOff x="10121900" y="2845435"/>
            <a:chExt cx="1230629" cy="2350000"/>
          </a:xfrm>
        </p:grpSpPr>
        <p:sp>
          <p:nvSpPr>
            <p:cNvPr id="29" name="school-pptx:timeline-time:5"/>
            <p:cNvSpPr txBox="1"/>
            <p:nvPr/>
          </p:nvSpPr>
          <p:spPr>
            <a:xfrm>
              <a:off x="10121900" y="2845435"/>
              <a:ext cx="1230629" cy="45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sz="2000"/>
                <a:t>第6月</a:t>
              </a:r>
              <a:endParaRPr sz="2000"/>
            </a:p>
          </p:txBody>
        </p:sp>
        <p:sp>
          <p:nvSpPr>
            <p:cNvPr id="30" name="school-pptx:timeline-title:5"/>
            <p:cNvSpPr txBox="1"/>
            <p:nvPr/>
          </p:nvSpPr>
          <p:spPr>
            <a:xfrm>
              <a:off x="10121900" y="3645435"/>
              <a:ext cx="1230629" cy="55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sz="2000"/>
                <a:t>教师试讲</a:t>
              </a:r>
              <a:endParaRPr sz="2000"/>
            </a:p>
          </p:txBody>
        </p:sp>
        <p:sp>
          <p:nvSpPr>
            <p:cNvPr id="31" name="school-pptx:timeline-description:5"/>
            <p:cNvSpPr txBox="1"/>
            <p:nvPr/>
          </p:nvSpPr>
          <p:spPr>
            <a:xfrm>
              <a:off x="10121900" y="4195435"/>
              <a:ext cx="1230629" cy="100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600"/>
                <a:t>通过集体备课验证任务难度、课时安排和评价证据。</a:t>
              </a:r>
              <a:endParaRPr sz="1600"/>
            </a:p>
          </p:txBody>
        </p:sp>
        <p:sp>
          <p:nvSpPr>
            <p:cNvPr id="32" name="school-pptx:timeline-marker:5"/>
            <p:cNvSpPr/>
            <p:nvPr/>
          </p:nvSpPr>
          <p:spPr>
            <a:xfrm>
              <a:off x="10625340" y="3395435"/>
              <a:ext cx="200000" cy="200000"/>
            </a:xfrm>
            <a:prstGeom prst="ellipse">
              <a:avLst/>
            </a:prstGeom>
            <a:solidFill>
              <a:srgbClr val="4776B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chool-pptx:slide-title"/>
          <p:cNvSpPr txBox="1"/>
          <p:nvPr/>
        </p:nvSpPr>
        <p:spPr>
          <a:xfrm>
            <a:off x="838200" y="365125"/>
            <a:ext cx="10508615" cy="1325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4800"/>
              <a:t>课程建设分阶段实施</a:t>
            </a:r>
            <a:endParaRPr sz="4800"/>
          </a:p>
        </p:txBody>
      </p:sp>
      <p:sp>
        <p:nvSpPr>
          <p:cNvPr id="3" name="school-pptx:timeline-axis"/>
          <p:cNvSpPr/>
          <p:nvPr/>
        </p:nvSpPr>
        <p:spPr>
          <a:xfrm>
            <a:off x="696000" y="3471225"/>
            <a:ext cx="10800000" cy="50000"/>
          </a:xfrm>
          <a:prstGeom prst="rect">
            <a:avLst/>
          </a:prstGeom>
          <a:gradFill rotWithShape="1">
            <a:gsLst>
              <a:gs pos="0">
                <a:schemeClr val="accent6"/>
              </a:gs>
              <a:gs pos="100000">
                <a:schemeClr val="accent1"/>
              </a:gs>
            </a:gsLst>
            <a:lin ang="10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" name="school-pptx:timeline-node:0"/>
          <p:cNvGrpSpPr/>
          <p:nvPr/>
        </p:nvGrpSpPr>
        <p:grpSpPr>
          <a:xfrm>
            <a:off x="838200" y="2845435"/>
            <a:ext cx="1230629" cy="2350000"/>
            <a:chOff x="838200" y="2845435"/>
            <a:chExt cx="1230629" cy="2350000"/>
          </a:xfrm>
        </p:grpSpPr>
        <p:sp>
          <p:nvSpPr>
            <p:cNvPr id="4" name="school-pptx:timeline-time:0"/>
            <p:cNvSpPr txBox="1"/>
            <p:nvPr/>
          </p:nvSpPr>
          <p:spPr>
            <a:xfrm>
              <a:off x="838200" y="2845435"/>
              <a:ext cx="1230629" cy="45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sz="2000"/>
                <a:t>第7月</a:t>
              </a:r>
              <a:endParaRPr sz="2000"/>
            </a:p>
          </p:txBody>
        </p:sp>
        <p:sp>
          <p:nvSpPr>
            <p:cNvPr id="5" name="school-pptx:timeline-title:0"/>
            <p:cNvSpPr txBox="1"/>
            <p:nvPr/>
          </p:nvSpPr>
          <p:spPr>
            <a:xfrm>
              <a:off x="838200" y="3645435"/>
              <a:ext cx="1230629" cy="55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sz="2000"/>
                <a:t>首轮实施</a:t>
              </a:r>
              <a:endParaRPr sz="2000"/>
            </a:p>
          </p:txBody>
        </p:sp>
        <p:sp>
          <p:nvSpPr>
            <p:cNvPr id="6" name="school-pptx:timeline-description:0"/>
            <p:cNvSpPr txBox="1"/>
            <p:nvPr/>
          </p:nvSpPr>
          <p:spPr>
            <a:xfrm>
              <a:off x="838200" y="4195435"/>
              <a:ext cx="1230629" cy="100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600"/>
                <a:t>记录学生操作、作品质量、常见错误和课堂节奏。</a:t>
              </a:r>
              <a:endParaRPr sz="1600"/>
            </a:p>
          </p:txBody>
        </p:sp>
        <p:sp>
          <p:nvSpPr>
            <p:cNvPr id="7" name="school-pptx:timeline-marker:0"/>
            <p:cNvSpPr/>
            <p:nvPr/>
          </p:nvSpPr>
          <p:spPr>
            <a:xfrm>
              <a:off x="1341640" y="3395435"/>
              <a:ext cx="200000" cy="200000"/>
            </a:xfrm>
            <a:prstGeom prst="ellipse">
              <a:avLst/>
            </a:prstGeom>
            <a:solidFill>
              <a:srgbClr val="6DA9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" name="school-pptx:timeline-node:1"/>
          <p:cNvGrpSpPr/>
          <p:nvPr/>
        </p:nvGrpSpPr>
        <p:grpSpPr>
          <a:xfrm>
            <a:off x="2694940" y="2845435"/>
            <a:ext cx="1230629" cy="2350000"/>
            <a:chOff x="2694940" y="2845435"/>
            <a:chExt cx="1230629" cy="2350000"/>
          </a:xfrm>
        </p:grpSpPr>
        <p:sp>
          <p:nvSpPr>
            <p:cNvPr id="9" name="school-pptx:timeline-time:1"/>
            <p:cNvSpPr txBox="1"/>
            <p:nvPr/>
          </p:nvSpPr>
          <p:spPr>
            <a:xfrm>
              <a:off x="2694940" y="2845435"/>
              <a:ext cx="1230629" cy="45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sz="2000"/>
                <a:t>第8月</a:t>
              </a:r>
              <a:endParaRPr sz="2000"/>
            </a:p>
          </p:txBody>
        </p:sp>
        <p:sp>
          <p:nvSpPr>
            <p:cNvPr id="10" name="school-pptx:timeline-title:1"/>
            <p:cNvSpPr txBox="1"/>
            <p:nvPr/>
          </p:nvSpPr>
          <p:spPr>
            <a:xfrm>
              <a:off x="2694940" y="3645435"/>
              <a:ext cx="1230629" cy="55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sz="2000"/>
                <a:t>企业评价</a:t>
              </a:r>
              <a:endParaRPr sz="2000"/>
            </a:p>
          </p:txBody>
        </p:sp>
        <p:sp>
          <p:nvSpPr>
            <p:cNvPr id="11" name="school-pptx:timeline-description:1"/>
            <p:cNvSpPr txBox="1"/>
            <p:nvPr/>
          </p:nvSpPr>
          <p:spPr>
            <a:xfrm>
              <a:off x="2694940" y="4195435"/>
              <a:ext cx="1230629" cy="100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600"/>
                <a:t>邀请企业导师依据岗位标准评审学生综合作品。</a:t>
              </a:r>
              <a:endParaRPr sz="1600"/>
            </a:p>
          </p:txBody>
        </p:sp>
        <p:sp>
          <p:nvSpPr>
            <p:cNvPr id="12" name="school-pptx:timeline-marker:1"/>
            <p:cNvSpPr/>
            <p:nvPr/>
          </p:nvSpPr>
          <p:spPr>
            <a:xfrm>
              <a:off x="3198380" y="3395435"/>
              <a:ext cx="200000" cy="200000"/>
            </a:xfrm>
            <a:prstGeom prst="ellipse">
              <a:avLst/>
            </a:prstGeom>
            <a:solidFill>
              <a:srgbClr val="659F6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" name="school-pptx:timeline-node:2"/>
          <p:cNvGrpSpPr/>
          <p:nvPr/>
        </p:nvGrpSpPr>
        <p:grpSpPr>
          <a:xfrm>
            <a:off x="4551680" y="2845435"/>
            <a:ext cx="1230629" cy="2350000"/>
            <a:chOff x="4551680" y="2845435"/>
            <a:chExt cx="1230629" cy="2350000"/>
          </a:xfrm>
        </p:grpSpPr>
        <p:sp>
          <p:nvSpPr>
            <p:cNvPr id="14" name="school-pptx:timeline-time:2"/>
            <p:cNvSpPr txBox="1"/>
            <p:nvPr/>
          </p:nvSpPr>
          <p:spPr>
            <a:xfrm>
              <a:off x="4551680" y="2845435"/>
              <a:ext cx="1230629" cy="45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sz="2000"/>
                <a:t>第9月</a:t>
              </a:r>
              <a:endParaRPr sz="2000"/>
            </a:p>
          </p:txBody>
        </p:sp>
        <p:sp>
          <p:nvSpPr>
            <p:cNvPr id="15" name="school-pptx:timeline-title:2"/>
            <p:cNvSpPr txBox="1"/>
            <p:nvPr/>
          </p:nvSpPr>
          <p:spPr>
            <a:xfrm>
              <a:off x="4551680" y="3645435"/>
              <a:ext cx="1230629" cy="55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sz="2000"/>
                <a:t>数据复盘</a:t>
              </a:r>
              <a:endParaRPr sz="2000"/>
            </a:p>
          </p:txBody>
        </p:sp>
        <p:sp>
          <p:nvSpPr>
            <p:cNvPr id="16" name="school-pptx:timeline-description:2"/>
            <p:cNvSpPr txBox="1"/>
            <p:nvPr/>
          </p:nvSpPr>
          <p:spPr>
            <a:xfrm>
              <a:off x="4551680" y="4195435"/>
              <a:ext cx="1230629" cy="100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600"/>
                <a:t>汇总过程证据，识别课程内容和设备条件中的薄弱点。</a:t>
              </a:r>
              <a:endParaRPr sz="1600"/>
            </a:p>
          </p:txBody>
        </p:sp>
        <p:sp>
          <p:nvSpPr>
            <p:cNvPr id="17" name="school-pptx:timeline-marker:2"/>
            <p:cNvSpPr/>
            <p:nvPr/>
          </p:nvSpPr>
          <p:spPr>
            <a:xfrm>
              <a:off x="5055120" y="3395435"/>
              <a:ext cx="200000" cy="200000"/>
            </a:xfrm>
            <a:prstGeom prst="ellipse">
              <a:avLst/>
            </a:prstGeom>
            <a:solidFill>
              <a:srgbClr val="5E957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" name="school-pptx:timeline-node:3"/>
          <p:cNvGrpSpPr/>
          <p:nvPr/>
        </p:nvGrpSpPr>
        <p:grpSpPr>
          <a:xfrm>
            <a:off x="6408420" y="2845435"/>
            <a:ext cx="1230629" cy="2350000"/>
            <a:chOff x="6408420" y="2845435"/>
            <a:chExt cx="1230629" cy="2350000"/>
          </a:xfrm>
        </p:grpSpPr>
        <p:sp>
          <p:nvSpPr>
            <p:cNvPr id="19" name="school-pptx:timeline-time:3"/>
            <p:cNvSpPr txBox="1"/>
            <p:nvPr/>
          </p:nvSpPr>
          <p:spPr>
            <a:xfrm>
              <a:off x="6408420" y="2845435"/>
              <a:ext cx="1230629" cy="45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sz="2000"/>
                <a:t>第10月</a:t>
              </a:r>
              <a:endParaRPr sz="2000"/>
            </a:p>
          </p:txBody>
        </p:sp>
        <p:sp>
          <p:nvSpPr>
            <p:cNvPr id="20" name="school-pptx:timeline-title:3"/>
            <p:cNvSpPr txBox="1"/>
            <p:nvPr/>
          </p:nvSpPr>
          <p:spPr>
            <a:xfrm>
              <a:off x="6408420" y="3645435"/>
              <a:ext cx="1230629" cy="55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sz="2000"/>
                <a:t>资源迭代</a:t>
              </a:r>
              <a:endParaRPr sz="2000"/>
            </a:p>
          </p:txBody>
        </p:sp>
        <p:sp>
          <p:nvSpPr>
            <p:cNvPr id="21" name="school-pptx:timeline-description:3"/>
            <p:cNvSpPr txBox="1"/>
            <p:nvPr/>
          </p:nvSpPr>
          <p:spPr>
            <a:xfrm>
              <a:off x="6408420" y="4195435"/>
              <a:ext cx="1230629" cy="100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600"/>
                <a:t>修订任务难度、故障案例、评分规则和教师提示。</a:t>
              </a:r>
              <a:endParaRPr sz="1600"/>
            </a:p>
          </p:txBody>
        </p:sp>
        <p:sp>
          <p:nvSpPr>
            <p:cNvPr id="22" name="school-pptx:timeline-marker:3"/>
            <p:cNvSpPr/>
            <p:nvPr/>
          </p:nvSpPr>
          <p:spPr>
            <a:xfrm>
              <a:off x="6911860" y="3395435"/>
              <a:ext cx="200000" cy="200000"/>
            </a:xfrm>
            <a:prstGeom prst="ellipse">
              <a:avLst/>
            </a:prstGeom>
            <a:solidFill>
              <a:srgbClr val="568A9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" name="school-pptx:timeline-node:4"/>
          <p:cNvGrpSpPr/>
          <p:nvPr/>
        </p:nvGrpSpPr>
        <p:grpSpPr>
          <a:xfrm>
            <a:off x="8265160" y="2845435"/>
            <a:ext cx="1230629" cy="2350000"/>
            <a:chOff x="8265160" y="2845435"/>
            <a:chExt cx="1230629" cy="2350000"/>
          </a:xfrm>
        </p:grpSpPr>
        <p:sp>
          <p:nvSpPr>
            <p:cNvPr id="24" name="school-pptx:timeline-time:4"/>
            <p:cNvSpPr txBox="1"/>
            <p:nvPr/>
          </p:nvSpPr>
          <p:spPr>
            <a:xfrm>
              <a:off x="8265160" y="2845435"/>
              <a:ext cx="1230629" cy="45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sz="2000"/>
                <a:t>第11月</a:t>
              </a:r>
              <a:endParaRPr sz="2000"/>
            </a:p>
          </p:txBody>
        </p:sp>
        <p:sp>
          <p:nvSpPr>
            <p:cNvPr id="25" name="school-pptx:timeline-title:4"/>
            <p:cNvSpPr txBox="1"/>
            <p:nvPr/>
          </p:nvSpPr>
          <p:spPr>
            <a:xfrm>
              <a:off x="8265160" y="3645435"/>
              <a:ext cx="1230629" cy="55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sz="2000"/>
                <a:t>成果推广</a:t>
              </a:r>
              <a:endParaRPr sz="2000"/>
            </a:p>
          </p:txBody>
        </p:sp>
        <p:sp>
          <p:nvSpPr>
            <p:cNvPr id="26" name="school-pptx:timeline-description:4"/>
            <p:cNvSpPr txBox="1"/>
            <p:nvPr/>
          </p:nvSpPr>
          <p:spPr>
            <a:xfrm>
              <a:off x="8265160" y="4195435"/>
              <a:ext cx="1230629" cy="100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600"/>
                <a:t>面向专业群共享项目资源并开展教师培训。</a:t>
              </a:r>
              <a:endParaRPr sz="1600"/>
            </a:p>
          </p:txBody>
        </p:sp>
        <p:sp>
          <p:nvSpPr>
            <p:cNvPr id="27" name="school-pptx:timeline-marker:4"/>
            <p:cNvSpPr/>
            <p:nvPr/>
          </p:nvSpPr>
          <p:spPr>
            <a:xfrm>
              <a:off x="8768600" y="3395435"/>
              <a:ext cx="200000" cy="200000"/>
            </a:xfrm>
            <a:prstGeom prst="ellipse">
              <a:avLst/>
            </a:prstGeom>
            <a:solidFill>
              <a:srgbClr val="4F80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3" name="school-pptx:timeline-node:5"/>
          <p:cNvGrpSpPr/>
          <p:nvPr/>
        </p:nvGrpSpPr>
        <p:grpSpPr>
          <a:xfrm>
            <a:off x="10121900" y="2845435"/>
            <a:ext cx="1230629" cy="2350000"/>
            <a:chOff x="10121900" y="2845435"/>
            <a:chExt cx="1230629" cy="2350000"/>
          </a:xfrm>
        </p:grpSpPr>
        <p:sp>
          <p:nvSpPr>
            <p:cNvPr id="29" name="school-pptx:timeline-time:5"/>
            <p:cNvSpPr txBox="1"/>
            <p:nvPr/>
          </p:nvSpPr>
          <p:spPr>
            <a:xfrm>
              <a:off x="10121900" y="2845435"/>
              <a:ext cx="1230629" cy="45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sz="2000"/>
                <a:t>第12月</a:t>
              </a:r>
              <a:endParaRPr sz="2000"/>
            </a:p>
          </p:txBody>
        </p:sp>
        <p:sp>
          <p:nvSpPr>
            <p:cNvPr id="30" name="school-pptx:timeline-title:5"/>
            <p:cNvSpPr txBox="1"/>
            <p:nvPr/>
          </p:nvSpPr>
          <p:spPr>
            <a:xfrm>
              <a:off x="10121900" y="3645435"/>
              <a:ext cx="1230629" cy="55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sz="2000"/>
                <a:t>质量闭环</a:t>
              </a:r>
              <a:endParaRPr sz="2000"/>
            </a:p>
          </p:txBody>
        </p:sp>
        <p:sp>
          <p:nvSpPr>
            <p:cNvPr id="31" name="school-pptx:timeline-description:5"/>
            <p:cNvSpPr txBox="1"/>
            <p:nvPr/>
          </p:nvSpPr>
          <p:spPr>
            <a:xfrm>
              <a:off x="10121900" y="4195435"/>
              <a:ext cx="1230629" cy="100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600"/>
                <a:t>形成年度诊改报告和下一轮课程建设清单。</a:t>
              </a:r>
              <a:endParaRPr sz="1600"/>
            </a:p>
          </p:txBody>
        </p:sp>
        <p:sp>
          <p:nvSpPr>
            <p:cNvPr id="32" name="school-pptx:timeline-marker:5"/>
            <p:cNvSpPr/>
            <p:nvPr/>
          </p:nvSpPr>
          <p:spPr>
            <a:xfrm>
              <a:off x="10625340" y="3395435"/>
              <a:ext cx="200000" cy="200000"/>
            </a:xfrm>
            <a:prstGeom prst="ellipse">
              <a:avLst/>
            </a:prstGeom>
            <a:solidFill>
              <a:srgbClr val="4776B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chool-pptx:slide-title"/>
          <p:cNvSpPr txBox="1"/>
          <p:nvPr/>
        </p:nvSpPr>
        <p:spPr>
          <a:xfrm>
            <a:off x="838200" y="365125"/>
            <a:ext cx="10508615" cy="1325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4800"/>
              <a:t>实训资源共同构成学习证据链</a:t>
            </a:r>
            <a:endParaRPr sz="4800"/>
          </a:p>
        </p:txBody>
      </p:sp>
      <p:grpSp>
        <p:nvGrpSpPr>
          <p:cNvPr id="5" name="school-pptx:gallery-card:0"/>
          <p:cNvGrpSpPr/>
          <p:nvPr/>
        </p:nvGrpSpPr>
        <p:grpSpPr>
          <a:xfrm>
            <a:off x="2308225" y="2200000"/>
            <a:ext cx="2258695" cy="1529715"/>
            <a:chOff x="2308225" y="2200000"/>
            <a:chExt cx="2258695" cy="1529715"/>
          </a:xfrm>
        </p:grpSpPr>
        <p:pic>
          <p:nvPicPr>
            <p:cNvPr id="3" name="school-pptx:gallery-picture:0" descr="image.png"/>
            <p:cNvPicPr>
              <a:picLocks noChangeAspect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2504239" y="2200000"/>
              <a:ext cx="1866666" cy="1049999"/>
            </a:xfrm>
            <a:prstGeom prst="rect">
              <a:avLst/>
            </a:prstGeom>
            <a:effectLst>
              <a:outerShdw blurRad="63500" dist="38100" dir="2700000" algn="ctr" rotWithShape="0">
                <a:srgbClr val="000000">
                  <a:alpha val="25000"/>
                </a:srgbClr>
              </a:outerShdw>
            </a:effectLst>
          </p:spPr>
        </p:pic>
        <p:sp>
          <p:nvSpPr>
            <p:cNvPr id="4" name="school-pptx:gallery-caption:0"/>
            <p:cNvSpPr txBox="1"/>
            <p:nvPr/>
          </p:nvSpPr>
          <p:spPr>
            <a:xfrm>
              <a:off x="2308225" y="3349715"/>
              <a:ext cx="2258695" cy="380000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just"/>
              <a:r>
                <a:rPr sz="1300"/>
                <a:t>综合实训单元：观察设备布局与安全通道</a:t>
              </a:r>
              <a:endParaRPr sz="1300"/>
            </a:p>
          </p:txBody>
        </p:sp>
      </p:grpSp>
      <p:grpSp>
        <p:nvGrpSpPr>
          <p:cNvPr id="8" name="school-pptx:gallery-card:1"/>
          <p:cNvGrpSpPr/>
          <p:nvPr/>
        </p:nvGrpSpPr>
        <p:grpSpPr>
          <a:xfrm>
            <a:off x="7625715" y="2200000"/>
            <a:ext cx="2258695" cy="1529715"/>
            <a:chOff x="7625715" y="2200000"/>
            <a:chExt cx="2258695" cy="1529715"/>
          </a:xfrm>
        </p:grpSpPr>
        <p:pic>
          <p:nvPicPr>
            <p:cNvPr id="6" name="school-pptx:gallery-picture:1" descr="image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7821729" y="2200000"/>
              <a:ext cx="1866666" cy="1049999"/>
            </a:xfrm>
            <a:prstGeom prst="rect">
              <a:avLst/>
            </a:prstGeom>
            <a:effectLst>
              <a:outerShdw blurRad="63500" dist="38100" dir="2700000" algn="ctr" rotWithShape="0">
                <a:srgbClr val="000000">
                  <a:alpha val="25000"/>
                </a:srgbClr>
              </a:outerShdw>
            </a:effectLst>
          </p:spPr>
        </p:pic>
        <p:sp>
          <p:nvSpPr>
            <p:cNvPr id="7" name="school-pptx:gallery-caption:1"/>
            <p:cNvSpPr txBox="1"/>
            <p:nvPr/>
          </p:nvSpPr>
          <p:spPr>
            <a:xfrm>
              <a:off x="7625715" y="3349715"/>
              <a:ext cx="2258695" cy="380000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just"/>
              <a:r>
                <a:rPr sz="1300"/>
                <a:t>PLC 联调：核对地址、网络与动作顺序</a:t>
              </a:r>
              <a:endParaRPr sz="1300"/>
            </a:p>
          </p:txBody>
        </p:sp>
      </p:grpSp>
      <p:grpSp>
        <p:nvGrpSpPr>
          <p:cNvPr id="11" name="school-pptx:gallery-card:2"/>
          <p:cNvGrpSpPr/>
          <p:nvPr/>
        </p:nvGrpSpPr>
        <p:grpSpPr>
          <a:xfrm>
            <a:off x="4836652" y="4050000"/>
            <a:ext cx="2258695" cy="1529715"/>
            <a:chOff x="4836652" y="4050000"/>
            <a:chExt cx="2258695" cy="1529715"/>
          </a:xfrm>
        </p:grpSpPr>
        <p:pic>
          <p:nvPicPr>
            <p:cNvPr id="9" name="school-pptx:gallery-picture:2" descr="image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5032666" y="4050000"/>
              <a:ext cx="1866666" cy="1049999"/>
            </a:xfrm>
            <a:prstGeom prst="rect">
              <a:avLst/>
            </a:prstGeom>
            <a:effectLst>
              <a:outerShdw blurRad="63500" dist="38100" dir="2700000" algn="ctr" rotWithShape="0">
                <a:srgbClr val="000000">
                  <a:alpha val="25000"/>
                </a:srgbClr>
              </a:outerShdw>
            </a:effectLst>
          </p:spPr>
        </p:pic>
        <p:sp>
          <p:nvSpPr>
            <p:cNvPr id="10" name="school-pptx:gallery-caption:2"/>
            <p:cNvSpPr txBox="1"/>
            <p:nvPr/>
          </p:nvSpPr>
          <p:spPr>
            <a:xfrm>
              <a:off x="4836652" y="5199715"/>
              <a:ext cx="2258695" cy="380000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just"/>
              <a:r>
                <a:rPr sz="1300"/>
                <a:t>机器人工作站：验证坐标、轨迹与安全区</a:t>
              </a:r>
              <a:endParaRPr sz="130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chool-pptx:slide-title"/>
          <p:cNvSpPr txBox="1"/>
          <p:nvPr/>
        </p:nvSpPr>
        <p:spPr>
          <a:xfrm>
            <a:off x="838200" y="365125"/>
            <a:ext cx="10508615" cy="1325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4800"/>
              <a:t>实训资源共同构成学习证据链</a:t>
            </a:r>
            <a:endParaRPr sz="4800"/>
          </a:p>
        </p:txBody>
      </p:sp>
      <p:grpSp>
        <p:nvGrpSpPr>
          <p:cNvPr id="5" name="school-pptx:gallery-card:0"/>
          <p:cNvGrpSpPr/>
          <p:nvPr/>
        </p:nvGrpSpPr>
        <p:grpSpPr>
          <a:xfrm>
            <a:off x="2308225" y="2200000"/>
            <a:ext cx="2258695" cy="1529715"/>
            <a:chOff x="2308225" y="2200000"/>
            <a:chExt cx="2258695" cy="1529715"/>
          </a:xfrm>
        </p:grpSpPr>
        <p:pic>
          <p:nvPicPr>
            <p:cNvPr id="3" name="school-pptx:gallery-picture:0" descr="image.png"/>
            <p:cNvPicPr>
              <a:picLocks noChangeAspect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2504239" y="2200000"/>
              <a:ext cx="1866666" cy="1049999"/>
            </a:xfrm>
            <a:prstGeom prst="rect">
              <a:avLst/>
            </a:prstGeom>
            <a:effectLst>
              <a:outerShdw blurRad="63500" dist="38100" dir="2700000" algn="ctr" rotWithShape="0">
                <a:srgbClr val="000000">
                  <a:alpha val="25000"/>
                </a:srgbClr>
              </a:outerShdw>
            </a:effectLst>
          </p:spPr>
        </p:pic>
        <p:sp>
          <p:nvSpPr>
            <p:cNvPr id="4" name="school-pptx:gallery-caption:0"/>
            <p:cNvSpPr txBox="1"/>
            <p:nvPr/>
          </p:nvSpPr>
          <p:spPr>
            <a:xfrm>
              <a:off x="2308225" y="3349715"/>
              <a:ext cx="2258695" cy="380000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just"/>
              <a:r>
                <a:rPr sz="1300"/>
                <a:t>课程地图：对应岗位任务与学习项目</a:t>
              </a:r>
              <a:endParaRPr sz="1300"/>
            </a:p>
          </p:txBody>
        </p:sp>
      </p:grpSp>
      <p:grpSp>
        <p:nvGrpSpPr>
          <p:cNvPr id="8" name="school-pptx:gallery-card:1"/>
          <p:cNvGrpSpPr/>
          <p:nvPr/>
        </p:nvGrpSpPr>
        <p:grpSpPr>
          <a:xfrm>
            <a:off x="7625715" y="2200000"/>
            <a:ext cx="2258695" cy="1529715"/>
            <a:chOff x="7625715" y="2200000"/>
            <a:chExt cx="2258695" cy="1529715"/>
          </a:xfrm>
        </p:grpSpPr>
        <p:pic>
          <p:nvPicPr>
            <p:cNvPr id="6" name="school-pptx:gallery-picture:1" descr="image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7821729" y="2200000"/>
              <a:ext cx="1866666" cy="1049999"/>
            </a:xfrm>
            <a:prstGeom prst="rect">
              <a:avLst/>
            </a:prstGeom>
            <a:effectLst>
              <a:outerShdw blurRad="63500" dist="38100" dir="2700000" algn="ctr" rotWithShape="0">
                <a:srgbClr val="000000">
                  <a:alpha val="25000"/>
                </a:srgbClr>
              </a:outerShdw>
            </a:effectLst>
          </p:spPr>
        </p:pic>
        <p:sp>
          <p:nvSpPr>
            <p:cNvPr id="7" name="school-pptx:gallery-caption:1"/>
            <p:cNvSpPr txBox="1"/>
            <p:nvPr/>
          </p:nvSpPr>
          <p:spPr>
            <a:xfrm>
              <a:off x="7625715" y="3349715"/>
              <a:ext cx="2258695" cy="380000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just"/>
              <a:endParaRPr sz="1300"/>
            </a:p>
          </p:txBody>
        </p:sp>
      </p:grpSp>
      <p:grpSp>
        <p:nvGrpSpPr>
          <p:cNvPr id="11" name="school-pptx:gallery-card:2"/>
          <p:cNvGrpSpPr/>
          <p:nvPr/>
        </p:nvGrpSpPr>
        <p:grpSpPr>
          <a:xfrm>
            <a:off x="4836652" y="4050000"/>
            <a:ext cx="2258695" cy="1529715"/>
            <a:chOff x="4836652" y="4050000"/>
            <a:chExt cx="2258695" cy="1529715"/>
          </a:xfrm>
        </p:grpSpPr>
        <p:pic>
          <p:nvPicPr>
            <p:cNvPr id="9" name="school-pptx:gallery-picture:2" descr="image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5032666" y="4050000"/>
              <a:ext cx="1866666" cy="1049999"/>
            </a:xfrm>
            <a:prstGeom prst="rect">
              <a:avLst/>
            </a:prstGeom>
            <a:effectLst>
              <a:outerShdw blurRad="63500" dist="38100" dir="2700000" algn="ctr" rotWithShape="0">
                <a:srgbClr val="000000">
                  <a:alpha val="25000"/>
                </a:srgbClr>
              </a:outerShdw>
            </a:effectLst>
          </p:spPr>
        </p:pic>
        <p:sp>
          <p:nvSpPr>
            <p:cNvPr id="10" name="school-pptx:gallery-caption:2"/>
            <p:cNvSpPr txBox="1"/>
            <p:nvPr/>
          </p:nvSpPr>
          <p:spPr>
            <a:xfrm>
              <a:off x="4836652" y="5199715"/>
              <a:ext cx="2258695" cy="380000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just"/>
              <a:r>
                <a:rPr sz="1300"/>
                <a:t>跨设备协同：从单机调试走向整线复盘</a:t>
              </a:r>
              <a:endParaRPr sz="130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chool-pptx:slide-title"/>
          <p:cNvSpPr txBox="1"/>
          <p:nvPr/>
        </p:nvSpPr>
        <p:spPr>
          <a:xfrm>
            <a:off x="831850" y="1710690"/>
            <a:ext cx="10514965" cy="285178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/>
            <a:r>
              <a:rPr sz="6600"/>
              <a:t>三、教学实施与质量评价</a:t>
            </a:r>
            <a:endParaRPr sz="66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chool-pptx:slide-title"/>
          <p:cNvSpPr txBox="1"/>
          <p:nvPr/>
        </p:nvSpPr>
        <p:spPr>
          <a:xfrm>
            <a:off x="8724900" y="365125"/>
            <a:ext cx="2628900" cy="581183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800"/>
              <a:t>产线联调记录采用可审阅的结构化文本</a:t>
            </a:r>
            <a:endParaRPr sz="4800"/>
          </a:p>
        </p:txBody>
      </p:sp>
      <p:sp>
        <p:nvSpPr>
          <p:cNvPr id="3" name="school-pptx:code"/>
          <p:cNvSpPr txBox="1"/>
          <p:nvPr/>
        </p:nvSpPr>
        <p:spPr>
          <a:xfrm>
            <a:off x="838200" y="365125"/>
            <a:ext cx="7734300" cy="581183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400">
                <a:latin typeface="Consolas"/>
              </a:rPr>
              <a:t>&lt;section class="commissioning-record"&gt;
  &lt;header&gt;
    &lt;h1&gt;智能产线联调记录&lt;/h1&gt;
    &lt;p&gt;本段是 fenced code 内的无害 HTML/CSS-like 文本。&lt;/p&gt;
  &lt;/header&gt;
  &lt;style&gt;
    .commissioning-record {
      color: var(--template-owned-color);
      width: 100%;
      background: transparent;
    }
  &lt;/style&gt;
  &lt;ol&gt;
    &lt;li&gt;确认急停、保护接地和安全门状态。&lt;/li&gt;</a:t>
            </a:r>
            <a:endParaRPr sz="1400">
              <a:latin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chool-pptx:slide-title"/>
          <p:cNvSpPr txBox="1"/>
          <p:nvPr/>
        </p:nvSpPr>
        <p:spPr>
          <a:xfrm>
            <a:off x="8724900" y="365125"/>
            <a:ext cx="2628900" cy="581183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800"/>
              <a:t>产线联调记录采用可审阅的结构化文本</a:t>
            </a:r>
            <a:endParaRPr sz="4800"/>
          </a:p>
        </p:txBody>
      </p:sp>
      <p:sp>
        <p:nvSpPr>
          <p:cNvPr id="3" name="school-pptx:code"/>
          <p:cNvSpPr txBox="1"/>
          <p:nvPr/>
        </p:nvSpPr>
        <p:spPr>
          <a:xfrm>
            <a:off x="838200" y="365125"/>
            <a:ext cx="7734300" cy="581183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400">
                <a:latin typeface="Consolas"/>
              </a:rPr>
              <a:t>    &lt;li&gt;核对 PLC I/O 地址与端子标识。&lt;/li&gt;
    &lt;li&gt;检查变频器、伺服与机器人报警。&lt;/li&gt;
    &lt;li&gt;先执行单元手动动作，再执行自动循环。&lt;/li&gt;
    &lt;li&gt;记录每个工位的启动条件和互锁条件。&lt;/li&gt;
    &lt;li&gt;测量空载节拍并保存程序版本。&lt;/li&gt;
    &lt;li&gt;注入传感器异常并观察系统响应。&lt;/li&gt;
    &lt;li&gt;按现象、假设、验证、处置、复测记录排故过程。&lt;/li&gt;
    &lt;li&gt;比较优化前后的节拍、停机次数和作品质量。&lt;/li&gt;
    &lt;li&gt;由教师与企业导师共同签署验收意见。&lt;/li&gt;
  &lt;/ol&gt;
  &lt;footer&gt;
    &lt;p&gt;记录进入课程质量改进资料库。&lt;/p&gt;
  &lt;/footer&gt;
&lt;/section&gt;</a:t>
            </a:r>
            <a:endParaRPr sz="1400">
              <a:latin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chool-pptx:slide-title"/>
          <p:cNvSpPr txBox="1"/>
          <p:nvPr/>
        </p:nvSpPr>
        <p:spPr>
          <a:xfrm>
            <a:off x="838200" y="365125"/>
            <a:ext cx="10508615" cy="1325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4800"/>
              <a:t>多元评价推动教学持续改进</a:t>
            </a:r>
            <a:endParaRPr sz="4800"/>
          </a:p>
        </p:txBody>
      </p:sp>
      <p:sp>
        <p:nvSpPr>
          <p:cNvPr id="3" name="school-pptx:body"/>
          <p:cNvSpPr txBox="1"/>
          <p:nvPr/>
        </p:nvSpPr>
        <p:spPr>
          <a:xfrm>
            <a:off x="838200" y="1825625"/>
            <a:ext cx="10515600" cy="365887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just">
              <a:lnSpc>
                <a:spcPct val="120000"/>
              </a:lnSpc>
              <a:spcAft>
                <a:spcPts val="200"/>
              </a:spcAft>
            </a:pPr>
            <a:r>
              <a:rPr sz="2800"/>
              <a:t>评价原则</a:t>
            </a:r>
            <a:endParaRPr sz="2800"/>
          </a:p>
          <a:p>
            <a:pPr algn="just">
              <a:lnSpc>
                <a:spcPct val="120000"/>
              </a:lnSpc>
              <a:spcAft>
                <a:spcPts val="200"/>
              </a:spcAft>
            </a:pPr>
            <a:r>
              <a:rPr sz="2800"/>
              <a:t>评价不只看设备是否运行，还要看学生能否说明</a:t>
            </a:r>
            <a:r>
              <a:rPr sz="2800" b="1"/>
              <a:t>为什么这样接、为什么这样改、如何证明问题已经解决</a:t>
            </a:r>
            <a:r>
              <a:rPr sz="2800"/>
              <a:t>。</a:t>
            </a:r>
            <a:endParaRPr sz="28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chool-pptx:slide-title"/>
          <p:cNvSpPr txBox="1"/>
          <p:nvPr/>
        </p:nvSpPr>
        <p:spPr>
          <a:xfrm>
            <a:off x="838200" y="365125"/>
            <a:ext cx="10508615" cy="1325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4800"/>
              <a:t>多元评价推动教学持续改进</a:t>
            </a:r>
            <a:endParaRPr sz="4800"/>
          </a:p>
        </p:txBody>
      </p:sp>
      <p:sp>
        <p:nvSpPr>
          <p:cNvPr id="3" name="school-pptx:body"/>
          <p:cNvSpPr txBox="1"/>
          <p:nvPr/>
        </p:nvSpPr>
        <p:spPr>
          <a:xfrm>
            <a:off x="838200" y="1825625"/>
            <a:ext cx="10515600" cy="365887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just">
              <a:lnSpc>
                <a:spcPct val="120000"/>
              </a:lnSpc>
              <a:spcAft>
                <a:spcPts val="200"/>
              </a:spcAft>
            </a:pPr>
            <a:r>
              <a:rPr sz="2600"/>
              <a:t>过程评价关注安全动作、工艺规范、协作沟通和记录完整性。</a:t>
            </a:r>
            <a:endParaRPr sz="2600"/>
          </a:p>
          <a:p>
            <a:pPr algn="just">
              <a:lnSpc>
                <a:spcPct val="120000"/>
              </a:lnSpc>
              <a:spcAft>
                <a:spcPts val="200"/>
              </a:spcAft>
            </a:pPr>
            <a:r>
              <a:rPr sz="2600"/>
              <a:t>作品评价关注功能实现、运行稳定性、故障恢复和现场整理。</a:t>
            </a:r>
            <a:endParaRPr sz="2600"/>
          </a:p>
          <a:p>
            <a:pPr algn="just">
              <a:lnSpc>
                <a:spcPct val="120000"/>
              </a:lnSpc>
              <a:spcAft>
                <a:spcPts val="200"/>
              </a:spcAft>
            </a:pPr>
            <a:r>
              <a:rPr sz="2600"/>
              <a:t>答辩评价关注技术依据、证据使用、替代方案和迁移能力。</a:t>
            </a:r>
            <a:endParaRPr sz="2600"/>
          </a:p>
          <a:p>
            <a:pPr algn="just">
              <a:lnSpc>
                <a:spcPct val="120000"/>
              </a:lnSpc>
              <a:spcAft>
                <a:spcPts val="200"/>
              </a:spcAft>
            </a:pPr>
            <a:r>
              <a:rPr sz="2600"/>
              <a:t>企业评价关注岗位适配、质量意识、交付节奏和持续学习能力。</a:t>
            </a:r>
            <a:endParaRPr sz="2600"/>
          </a:p>
          <a:p>
            <a:pPr algn="just">
              <a:lnSpc>
                <a:spcPct val="120000"/>
              </a:lnSpc>
              <a:spcAft>
                <a:spcPts val="200"/>
              </a:spcAft>
            </a:pPr>
            <a:r>
              <a:rPr sz="2600"/>
              <a:t>课程团队按学期复盘评价数据，把高频失分项转化为新的训练任务。</a:t>
            </a:r>
            <a:endParaRPr sz="26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chool-pptx:slide-title"/>
          <p:cNvSpPr txBox="1"/>
          <p:nvPr/>
        </p:nvSpPr>
        <p:spPr>
          <a:xfrm>
            <a:off x="838200" y="365125"/>
            <a:ext cx="10508615" cy="1325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4800"/>
              <a:t>多元评价推动教学持续改进</a:t>
            </a:r>
            <a:endParaRPr sz="4800"/>
          </a:p>
        </p:txBody>
      </p:sp>
      <p:pic>
        <p:nvPicPr>
          <p:cNvPr id="3" name="school-pptx:image-text-picture" descr="image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43671" y="1825625"/>
            <a:ext cx="6504657" cy="3658870"/>
          </a:xfrm>
          <a:prstGeom prst="rect">
            <a:avLst/>
          </a:prstGeom>
          <a:effectLst>
            <a:outerShdw blurRad="63500" dist="38100" dir="2700000" algn="ctr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CEE配色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579E40"/>
      </a:accent1>
      <a:accent2>
        <a:srgbClr val="5E9768"/>
      </a:accent2>
      <a:accent3>
        <a:srgbClr val="549183"/>
      </a:accent3>
      <a:accent4>
        <a:srgbClr val="498B9E"/>
      </a:accent4>
      <a:accent5>
        <a:srgbClr val="3E85B9"/>
      </a:accent5>
      <a:accent6>
        <a:srgbClr val="0084CC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3085</Words>
  <Application>WPS 演示</Application>
  <PresentationFormat>宽屏</PresentationFormat>
  <Paragraphs>340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1" baseType="lpstr">
      <vt:lpstr>Arial</vt:lpstr>
      <vt:lpstr>宋体</vt:lpstr>
      <vt:lpstr>Wingdings</vt:lpstr>
      <vt:lpstr>微软雅黑</vt:lpstr>
      <vt:lpstr>黑体-简</vt:lpstr>
      <vt:lpstr>Arial</vt:lpstr>
      <vt:lpstr>黑体</vt:lpstr>
      <vt:lpstr>等线</vt:lpstr>
      <vt:lpstr>Calibri</vt:lpstr>
      <vt:lpstr>Helvetica Neue</vt:lpstr>
      <vt:lpstr>Arial Unicode MS</vt:lpstr>
      <vt:lpstr>Consolas</vt:lpstr>
      <vt:lpstr>Thonburi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世界先生</dc:creator>
  <cp:lastModifiedBy>周大添</cp:lastModifiedBy>
  <cp:revision>20</cp:revision>
  <dcterms:created xsi:type="dcterms:W3CDTF">2026-07-15T19:58:58Z</dcterms:created>
  <dcterms:modified xsi:type="dcterms:W3CDTF">2026-07-15T19:58:58Z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2052-12.1.26035.26035</vt:lpwstr>
  </property>
  <property fmtid="{D5CDD505-2E9C-101B-9397-08002B2CF9AE}" pid="3" name="ICV">
    <vt:lpwstr>30F53FC796A8CE9D6397576A120DFE9C_43</vt:lpwstr>
  </property>
</Properties>
</file>